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CVI works for this brief: cortical or cerebral visual impairment is a phenotype, not a single gene, so the atlas is phenotype-first. HPO term HP:0100704 (synonyms: cortical visual impairment, cortical blindness) is annotated to 199 rare diseases in Monarch (sources HPO and Orphanet), most of them monogenic: developmental and epileptic encephalopathies, brain malformations, metabolic and mitochondrial disorders. The graph goes CVI to diseases to genes to pathways, and clusters by mechanism and shared phenotype profile. That is exactly the brief's line about organizing by mechanism and phenotype instead of by disease name. Say in the pitch that CVI itself is common and multi-cause; the atlas is for the family whose CVI comes with a rare genetic diagnosis, or who is still looking for one. Persona: the parent (the brief's Devon), voiced by Paul, whose family has lived experience with CVI. Platform decisions from Vi: build and deploy on Replit, GitHub main for everything, pipeline runs on Jaspaal's laptop and commits graph.json; Google Cloud is not needed in 16 hours (Cloud Run is the fallback only if a Replit deployment misbehaves). Submission checklist from the brief: deployed prototype, repo with README covering architecture and dataset reproduction, team video plus a 1-minute walkthrough. Hard cutoff set by the team: submit by 4:45 AM PT; the official deadline is 6:00 AM PT (9:00 AM ET), Oct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set from Vi's answers: start now (11:30 AM PT), team cutoff 4:45 AM PT, hard stop 6:00 AM PT. If you start later, shift every row by the same offset and cut Build 2 before you cut Polish. If one lane is behind at Merge 1, the other two stop features and unblock it. Ownership stays fixed: Jaspaal = pipeline, OpenAI extraction, clusters, explain API; Vi = app, design, Replit deploy; Paul = community data, evidence QA, 10x case, demo script, videos, submission. Merge 1 is the real risk point: Vi must already run on the mock contract so the swap is a file replacement, not a rewrite. With everyone on main, the one rule that saves the night is pull before push and small commits; if a push is rejected, pull, resolve, push, never force. Freeze at 22:30 is non-negotiable; every hackathon loss story starts with a feature added at midnight.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calls. Monarch disease list: GET https://api-v3.monarchinitiative.org/v3/api/association?object=HP:0100704&amp;category=biolink:DiseaseToPhenotypicFeatureAssociation&amp;limit=100&amp;offset=0 (199 total, keep the frequency field: Frequent beats Occasional for the demo pick). Per disease: GET /v3/api/entity/MONDO:0034106 and GET /v3/api/association?subject=MONDO:0034106 for its genes (category biolink:CausalGeneToDiseaseAssociation or the gene-disease category listed in /v3/docs) and its full phenotype profile (DiseaseToPhenotypicFeatureAssociation). Genes come back as HGNC ids with symbols. Reactome: https://reactome.org/ContentService/search/query?query=CDKL5&amp;species=Homo sapiens&amp;types=Pathway. PubMed: esearch.fcgi?db=pubmed&amp;term=("developmental and epileptic encephalopathy 73"[Title/Abstract] OR CDKL5[Title/Abstract])&amp;retmax=30 then efetch.fcgi?db=pubmed&amp;id=...&amp;rettype=abstract&amp;retmode=xml. ClinicalTrials: https://clinicaltrials.gov/api/v2/studies?query.cond=cerebral visual impairment&amp;pageSize=50, and once per gene. RePORTER: POST https://api.reporter.nih.gov/v2/projects/search with criteria.advanced_text_search.search_text = "cerebral visual impairment", limit 50; repeat per gene symbol. Similarity recipe: for each disease pair, jaccard(HPO term sets) + 1.0 if they share a Reactome pathway + 1.0 if they share a gene; keep pairs above a threshold you tune by eye; networkx.community.louvain_communities(G, weight="w"); nx.betweenness_centrality(G) for bridges. Mechanism nodes: Reactome pathway ids plus a hand-checked loss-of-function or gain-of-function tag per gene where the abstracts say so. Extraction prompt sketch: "From this abstract return claims as JSON. Only claims stated in the text. Subject and object are gene, disease, phenotype, variant or mechanism names exactly as written; include the exact evidence span." Use responses.parse with a strict schema; batch about 20 abstracts per call. Resolve: synonym dictionary from Monarch first, then text-embedding-3-small cosine above 0.9 accepted, 0.75 to 0.9 sent to gpt-6-luna with the top 5 candidates, below rejected and logged. Explain prompt: "You are given edges with ids. Write at most 6 sentences for a parent with no medical background. Each sentence ends with [edge:ID]. If a sentence would need a fact not in the edges, do not write it. If no path exists, write exactly: No supported route, then list what was searched and what evidence would change the answer." Confirm exact model ids in the OpenAI dashboard; the names here follow the current pricing page. Store raw responses once; every refetch costs time you do not have. Write schema.json as JSON Schema so Vi generates TypeScript types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contract example: nodes = [{id: "MONDO:0034106", type: "Disease", label: "Developmental and epileptic encephalopathy 73", synonyms: [...]}], edges = [{id: "e1", from: "MONDO:0034106", to: "HP:0100704", rel: "has_phenotype", source: "HPO", url: "https://...", date: "2026-10-03", confidence: 0.9, kind: "observed"}], clusters = [{id: "c1", label: "Synaptic signaling", members: [...], bridges: [...]}]. Generate the TypeScript types from Jaspaal's JSON Schema (json-schema-to-typescript) so the contract is enforced, not remembered. Replit setup: create the Repl from the GitHub repo, set OPENAI_API_KEY in Secrets, deploy with Autoscale; keep the dev URL for the team and the deployment URL for judges. Design direction (Apple-like): background #FFFFFF, text #1D1D1F, secondary #6E6E73, one accent #0071E3, 12px radius, 1px #E5E5EA borders, no drop shadows except on the floating panel, system font stack (-apple-system, SF Pro, Inter fallback), large type (28px titles, 17px body on desktop), generous 24px spacing. Graph: grey edges by default, cluster color only on nodes, labels for the selected node and neighbors, animate pan to the selected node, dashed edges for inferred or bridge, hover shows confidence as text. Responsive: desktop = graph left 60%, panel right 40%; mobile = graph full width, panel as a bottom sheet with a drag handle. Performance: never render all 199 diseases plus genes at once; render the active cluster plus bridges, lazy-load the rest. Keep OpenAI calls in route handlers (app/api/*) so the key never reaches the browser; Jaspaal writes the prompts, you own the request and error handling. Demo rehearsal script: the parent types CVI, picks her child's condition (or "not sure yet"), opens the cluster, clicks an edge, reads the evidence, opens the action view, copies the proposal; then a search outside the slice shows the honest no-route screen. Preselect the demo node on first load so the judge's first click lands somewhere meaningful.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CSV columns: name, type (patient_group, registry, assessment, investigator, center, foundation), disease_or_gene (MONDO id or gene symbol if specific, else "CVI"), url, country, contact_url, notes. Starting points to verify: Pediatric Cortical Visual Impairment Society (pcvis.vision), Perkins School for the Blind CVI Center and CVI Now (perkins.org), CVI Scotland, Prevent Blindness CVI resources page, the NEI CVI workshop page, and gene-specific foundations for the demo conditions once Jaspaal has the list (many DEE genes have one). Every row needs a working URL; Jaspaal turns rows into PatientOrg and Asset nodes with kind = observed and source = the URL. QA method: Jaspaal gives you 10, then 20, random edge ids with their source URLs; open each, decide whether the page actually supports the relationship, mark true, false or unclear, and send the list back; the counts (for example 18 of 20 supported) go into the README under Evidence integrity. 10x case: pick one milestone the brief names, such as launching a shared natural history study or agreeing on a shared outcome measure; find one published timeline from a real foundation or study and cite it; then lay out the atlas route (reuse a cluster neighbor's protocol or assessment, pool registries, one shared submission) and the three assumptions that must be validated next. Fewer, clearer assumptions win; do not invent numbers. Demo script shape (60 seconds): 10 seconds of your family's experience in your own words, 40 seconds of the parent's path on screen with "observed" and "inferred" said out loud once, 10 seconds on the next step and what is still unknown. Team video: who you are, why CVI, what is real today and what is not. Submission: confirm the form's required fields early (repo link, deployment link, video links) so nothing is discovered at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65" y="949895"/>
            <a:ext cx="10566443" cy="335259"/>
          </a:xfrm>
          <a:prstGeom prst="rect">
            <a:avLst/>
          </a:prstGeom>
          <a:noFill/>
          <a:ln/>
        </p:spPr>
        <p:txBody>
          <a:bodyPr wrap="square" lIns="0" tIns="0" rIns="0" bIns="0" rtlCol="0" anchor="t"/>
          <a:lstStyle>
            <a:lvl1pPr algn="l" indent="0" marL="0">
              <a:lnSpc>
                <a:spcPct val="115000"/>
              </a:lnSpc>
              <a:buNone/>
              <a:defRPr lang="en-US" sz="2400" dirty="0">
                <a:solidFill>
                  <a:srgbClr val="14202B"/>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2400" dirty="0"/>
          </a:p>
        </p:txBody>
      </p:sp>
      <p:sp>
        <p:nvSpPr>
          <p:cNvPr id="3" name="Text Placeholder 2"/>
          <p:cNvSpPr/>
          <p:nvPr>
            <p:ph idx="101" type="body"/>
          </p:nvPr>
        </p:nvSpPr>
        <p:spPr>
          <a:xfrm>
            <a:off x="812765" y="1589954"/>
            <a:ext cx="10566435" cy="4455246"/>
          </a:xfrm>
          <a:prstGeom prst="rect">
            <a:avLst/>
          </a:prstGeom>
          <a:noFill/>
          <a:ln/>
        </p:spPr>
        <p:txBody>
          <a:bodyPr wrap="square" lIns="0" tIns="0" rIns="0" bIns="0" rtlCol="0" anchor="t"/>
          <a:lstStyle>
            <a:lvl1pPr algn="l" indent="0" marL="0">
              <a:lnSpc>
                <a:spcPct val="140000"/>
              </a:lnSpc>
              <a:buNone/>
              <a:defRPr lang="en-US" sz="1600" dirty="0">
                <a:solidFill>
                  <a:srgbClr val="2B384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65" y="949895"/>
            <a:ext cx="10566443" cy="335259"/>
          </a:xfrm>
          <a:prstGeom prst="rect">
            <a:avLst/>
          </a:prstGeom>
          <a:noFill/>
          <a:ln/>
        </p:spPr>
        <p:txBody>
          <a:bodyPr wrap="square" lIns="0" tIns="0" rIns="0" bIns="0" rtlCol="0" anchor="t"/>
          <a:lstStyle>
            <a:lvl1pPr algn="l" indent="0" marL="0">
              <a:lnSpc>
                <a:spcPct val="115000"/>
              </a:lnSpc>
              <a:buNone/>
              <a:defRPr lang="en-US" sz="2400" dirty="0">
                <a:solidFill>
                  <a:srgbClr val="14202B"/>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2400" dirty="0"/>
          </a:p>
        </p:txBody>
      </p:sp>
      <p:sp>
        <p:nvSpPr>
          <p:cNvPr id="3" name="Text Placeholder 2"/>
          <p:cNvSpPr/>
          <p:nvPr>
            <p:ph idx="101" type="body"/>
          </p:nvPr>
        </p:nvSpPr>
        <p:spPr>
          <a:xfrm>
            <a:off x="812765" y="1589954"/>
            <a:ext cx="10566435" cy="4455246"/>
          </a:xfrm>
          <a:prstGeom prst="rect">
            <a:avLst/>
          </a:prstGeom>
          <a:noFill/>
          <a:ln/>
        </p:spPr>
        <p:txBody>
          <a:bodyPr wrap="square" lIns="0" tIns="0" rIns="0" bIns="0" rtlCol="0" anchor="t"/>
          <a:lstStyle>
            <a:lvl1pPr algn="l" indent="0" marL="0">
              <a:lnSpc>
                <a:spcPct val="140000"/>
              </a:lnSpc>
              <a:buNone/>
              <a:defRPr lang="en-US" sz="1600" dirty="0">
                <a:solidFill>
                  <a:srgbClr val="2B384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233"/>
        </a:solidFill>
      </p:bgPr>
    </p:bg>
    <p:spTree>
      <p:nvGrpSpPr>
        <p:cNvPr id="1" name=""/>
        <p:cNvGrpSpPr/>
        <p:nvPr/>
      </p:nvGrpSpPr>
      <p:grpSpPr>
        <a:xfrm>
          <a:off x="0" y="0"/>
          <a:ext cx="0" cy="0"/>
          <a:chOff x="0" y="0"/>
          <a:chExt cx="0" cy="0"/>
        </a:xfrm>
      </p:grpSpPr>
      <p:sp>
        <p:nvSpPr>
          <p:cNvPr id="2" name="Text 0"/>
          <p:cNvSpPr/>
          <p:nvPr/>
        </p:nvSpPr>
        <p:spPr>
          <a:xfrm>
            <a:off x="812765" y="711186"/>
            <a:ext cx="10883436" cy="238747"/>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F0A868"/>
                </a:solidFill>
                <a:latin typeface="JetBrains Mono" pitchFamily="49" charset="0"/>
                <a:ea typeface="JetBrains Mono" pitchFamily="49" charset="-122"/>
                <a:cs typeface="JetBrains Mono" pitchFamily="49" charset="-120"/>
              </a:rPr>
              <a:t>HACK-NATION CHALLENGE 05 · OPENAI × BUFFALO INITIATIVE · VI, JASPAAL, PAUL · 16 HOURS · V2</a:t>
            </a:r>
            <a:endParaRPr lang="en-US" sz="1200" dirty="0"/>
          </a:p>
        </p:txBody>
      </p:sp>
      <p:sp>
        <p:nvSpPr>
          <p:cNvPr id="3" name="Text 1"/>
          <p:cNvSpPr/>
          <p:nvPr>
            <p:ph type="title"/>
          </p:nvPr>
        </p:nvSpPr>
        <p:spPr>
          <a:xfrm>
            <a:off x="812765" y="1102330"/>
            <a:ext cx="10883436" cy="863571"/>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F6F7F4"/>
                </a:solidFill>
                <a:latin typeface="IBM Plex Sans" pitchFamily="34" charset="0"/>
                <a:ea typeface="IBM Plex Sans" pitchFamily="34" charset="-122"/>
                <a:cs typeface="IBM Plex Sans" pitchFamily="34" charset="-120"/>
              </a:rPr>
              <a:t>CVI Atlas: one search, one sourced path, one next step for a parent</a:t>
            </a:r>
            <a:endParaRPr lang="en-US" sz="3000" dirty="0"/>
          </a:p>
        </p:txBody>
      </p:sp>
      <p:sp>
        <p:nvSpPr>
          <p:cNvPr id="4" name="Shape 2"/>
          <p:cNvSpPr/>
          <p:nvPr/>
        </p:nvSpPr>
        <p:spPr>
          <a:xfrm>
            <a:off x="815940" y="2121472"/>
            <a:ext cx="3414174" cy="2344451"/>
          </a:xfrm>
          <a:prstGeom prst="roundRect">
            <a:avLst>
              <a:gd name="adj" fmla="val 3657"/>
            </a:avLst>
          </a:prstGeom>
          <a:solidFill>
            <a:srgbClr val="16304A"/>
          </a:solidFill>
          <a:ln w="6350">
            <a:solidFill>
              <a:srgbClr val="2A4A66"/>
            </a:solidFill>
            <a:prstDash val="solid"/>
          </a:ln>
        </p:spPr>
      </p:sp>
      <p:sp>
        <p:nvSpPr>
          <p:cNvPr id="5" name="Text 3"/>
          <p:cNvSpPr/>
          <p:nvPr/>
        </p:nvSpPr>
        <p:spPr>
          <a:xfrm>
            <a:off x="996358" y="2301891"/>
            <a:ext cx="3144937" cy="238747"/>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7F4"/>
                </a:solidFill>
                <a:latin typeface="IBM Plex Sans" pitchFamily="34" charset="0"/>
                <a:ea typeface="IBM Plex Sans" pitchFamily="34" charset="-122"/>
                <a:cs typeface="IBM Plex Sans" pitchFamily="34" charset="-120"/>
              </a:rPr>
              <a:t>The slice: CVI first</a:t>
            </a:r>
            <a:endParaRPr lang="en-US" sz="1400" dirty="0"/>
          </a:p>
        </p:txBody>
      </p:sp>
      <p:sp>
        <p:nvSpPr>
          <p:cNvPr id="6" name="Text 4"/>
          <p:cNvSpPr/>
          <p:nvPr/>
        </p:nvSpPr>
        <p:spPr>
          <a:xfrm>
            <a:off x="1018964" y="2578730"/>
            <a:ext cx="3116997" cy="1732175"/>
          </a:xfrm>
          <a:prstGeom prst="rect">
            <a:avLst/>
          </a:prstGeom>
          <a:noFill/>
          <a:ln/>
        </p:spPr>
        <p:txBody>
          <a:bodyPr wrap="square" lIns="0" tIns="0" rIns="0" bIns="0" rtlCol="0" anchor="t">
            <a:normAutofit/>
          </a:bodyPr>
          <a:lstStyle/>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Anchor: HPO Cerebral visual impairment (HP:0100704)</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199 rare diseases carry it (Monarch, HPO, Orphanet)</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Demo on 20 to 30 with a gene and a patient group</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CVI itself is not one gene: say so in the pitch</a:t>
            </a:r>
            <a:endParaRPr lang="en-US" sz="1200" dirty="0"/>
          </a:p>
        </p:txBody>
      </p:sp>
      <p:sp>
        <p:nvSpPr>
          <p:cNvPr id="7" name="Shape 5"/>
          <p:cNvSpPr/>
          <p:nvPr/>
        </p:nvSpPr>
        <p:spPr>
          <a:xfrm>
            <a:off x="4388854" y="2121472"/>
            <a:ext cx="3414219" cy="2344451"/>
          </a:xfrm>
          <a:prstGeom prst="roundRect">
            <a:avLst>
              <a:gd name="adj" fmla="val 3657"/>
            </a:avLst>
          </a:prstGeom>
          <a:solidFill>
            <a:srgbClr val="16304A"/>
          </a:solidFill>
          <a:ln w="6350">
            <a:solidFill>
              <a:srgbClr val="2A4A66"/>
            </a:solidFill>
            <a:prstDash val="solid"/>
          </a:ln>
        </p:spPr>
      </p:sp>
      <p:sp>
        <p:nvSpPr>
          <p:cNvPr id="8" name="Text 6"/>
          <p:cNvSpPr/>
          <p:nvPr/>
        </p:nvSpPr>
        <p:spPr>
          <a:xfrm>
            <a:off x="4569273" y="2301891"/>
            <a:ext cx="3144984" cy="238747"/>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7F4"/>
                </a:solidFill>
                <a:latin typeface="IBM Plex Sans" pitchFamily="34" charset="0"/>
                <a:ea typeface="IBM Plex Sans" pitchFamily="34" charset="-122"/>
                <a:cs typeface="IBM Plex Sans" pitchFamily="34" charset="-120"/>
              </a:rPr>
              <a:t>The parent's demo path</a:t>
            </a:r>
            <a:endParaRPr lang="en-US" sz="1400" dirty="0"/>
          </a:p>
        </p:txBody>
      </p:sp>
      <p:sp>
        <p:nvSpPr>
          <p:cNvPr id="9" name="Text 7"/>
          <p:cNvSpPr/>
          <p:nvPr/>
        </p:nvSpPr>
        <p:spPr>
          <a:xfrm>
            <a:off x="4591879" y="2578730"/>
            <a:ext cx="3117044" cy="1518828"/>
          </a:xfrm>
          <a:prstGeom prst="rect">
            <a:avLst/>
          </a:prstGeom>
          <a:noFill/>
          <a:ln/>
        </p:spPr>
        <p:txBody>
          <a:bodyPr wrap="square" lIns="0" tIns="0" rIns="0" bIns="0" rtlCol="0" anchor="t">
            <a:normAutofit/>
          </a:bodyPr>
          <a:lstStyle/>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Types CVI, gets a plain-language map</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Sees conditions where CVI is core, grouped by mechanism</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Finds groups, registries and assessments already built</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Leaves with a next step, or an honest gap plus what to test</a:t>
            </a:r>
            <a:endParaRPr lang="en-US" sz="1200" dirty="0"/>
          </a:p>
        </p:txBody>
      </p:sp>
      <p:sp>
        <p:nvSpPr>
          <p:cNvPr id="10" name="Shape 8"/>
          <p:cNvSpPr/>
          <p:nvPr/>
        </p:nvSpPr>
        <p:spPr>
          <a:xfrm>
            <a:off x="7961814" y="2121472"/>
            <a:ext cx="3414219" cy="2344451"/>
          </a:xfrm>
          <a:prstGeom prst="roundRect">
            <a:avLst>
              <a:gd name="adj" fmla="val 3657"/>
            </a:avLst>
          </a:prstGeom>
          <a:solidFill>
            <a:srgbClr val="16304A"/>
          </a:solidFill>
          <a:ln w="6350">
            <a:solidFill>
              <a:srgbClr val="2A4A66"/>
            </a:solidFill>
            <a:prstDash val="solid"/>
          </a:ln>
        </p:spPr>
      </p:sp>
      <p:sp>
        <p:nvSpPr>
          <p:cNvPr id="11" name="Text 9"/>
          <p:cNvSpPr/>
          <p:nvPr/>
        </p:nvSpPr>
        <p:spPr>
          <a:xfrm>
            <a:off x="8142232" y="2301891"/>
            <a:ext cx="3144984" cy="238747"/>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7F4"/>
                </a:solidFill>
                <a:latin typeface="IBM Plex Sans" pitchFamily="34" charset="0"/>
                <a:ea typeface="IBM Plex Sans" pitchFamily="34" charset="-122"/>
                <a:cs typeface="IBM Plex Sans" pitchFamily="34" charset="-120"/>
              </a:rPr>
              <a:t>Judging map</a:t>
            </a:r>
            <a:endParaRPr lang="en-US" sz="1400" dirty="0"/>
          </a:p>
        </p:txBody>
      </p:sp>
      <p:sp>
        <p:nvSpPr>
          <p:cNvPr id="12" name="Text 10"/>
          <p:cNvSpPr/>
          <p:nvPr/>
        </p:nvSpPr>
        <p:spPr>
          <a:xfrm>
            <a:off x="8164838" y="2578730"/>
            <a:ext cx="3117044" cy="1732175"/>
          </a:xfrm>
          <a:prstGeom prst="rect">
            <a:avLst/>
          </a:prstGeom>
          <a:noFill/>
          <a:ln/>
        </p:spPr>
        <p:txBody>
          <a:bodyPr wrap="square" lIns="0" tIns="0" rIns="0" bIns="0" rtlCol="0" anchor="t">
            <a:normAutofit/>
          </a:bodyPr>
          <a:lstStyle/>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Graph quality: typed edges, Louvain clusters, bridge nodes</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Evidence: source, date, confidence, observed vs inferred</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Patient progress: the action view</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10x: shared study timeline</a:t>
            </a:r>
            <a:endParaRPr lang="en-US" sz="1200" dirty="0"/>
          </a:p>
          <a:p>
            <a:pPr algn="l" marL="155194" indent="-155194">
              <a:lnSpc>
                <a:spcPts val="1680"/>
              </a:lnSpc>
              <a:buSzPct val="100000"/>
              <a:buChar char="•"/>
            </a:pPr>
            <a:r>
              <a:rPr lang="en-US" sz="1200" dirty="0">
                <a:solidFill>
                  <a:srgbClr val="BFD0DA"/>
                </a:solidFill>
                <a:latin typeface="IBM Plex Sans" pitchFamily="34" charset="0"/>
                <a:ea typeface="IBM Plex Sans" pitchFamily="34" charset="-122"/>
                <a:cs typeface="IBM Plex Sans" pitchFamily="34" charset="-120"/>
              </a:rPr>
              <a:t>Craft: clean, Apple-like, one search, progressive reveal</a:t>
            </a:r>
            <a:endParaRPr lang="en-US" sz="1200" dirty="0"/>
          </a:p>
        </p:txBody>
      </p:sp>
      <p:sp>
        <p:nvSpPr>
          <p:cNvPr id="13" name="Text 11"/>
          <p:cNvSpPr/>
          <p:nvPr/>
        </p:nvSpPr>
        <p:spPr>
          <a:xfrm>
            <a:off x="812765" y="4646894"/>
            <a:ext cx="10883436" cy="238747"/>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7FC4D0"/>
                </a:solidFill>
                <a:latin typeface="JetBrains Mono" pitchFamily="49" charset="0"/>
                <a:ea typeface="JetBrains Mono" pitchFamily="49" charset="-122"/>
                <a:cs typeface="JetBrains Mono" pitchFamily="49" charset="-120"/>
              </a:rPr>
              <a:t>ARCHITECTURE · PAUL OWNS COMMUNITY DATA, EVIDENCE QA, DEMO, VIDEO, SUBMISSION</a:t>
            </a:r>
            <a:endParaRPr lang="en-US" sz="1200" dirty="0"/>
          </a:p>
        </p:txBody>
      </p:sp>
      <p:sp>
        <p:nvSpPr>
          <p:cNvPr id="14" name="Shape 12"/>
          <p:cNvSpPr/>
          <p:nvPr/>
        </p:nvSpPr>
        <p:spPr>
          <a:xfrm>
            <a:off x="815940" y="5038632"/>
            <a:ext cx="1802185" cy="645193"/>
          </a:xfrm>
          <a:prstGeom prst="roundRect">
            <a:avLst>
              <a:gd name="adj" fmla="val 9350"/>
            </a:avLst>
          </a:prstGeom>
          <a:noFill/>
          <a:ln w="6350">
            <a:solidFill>
              <a:srgbClr val="3C6A86"/>
            </a:solidFill>
            <a:prstDash val="solid"/>
          </a:ln>
        </p:spPr>
      </p:sp>
      <p:sp>
        <p:nvSpPr>
          <p:cNvPr id="15" name="Text 13"/>
          <p:cNvSpPr/>
          <p:nvPr/>
        </p:nvSpPr>
        <p:spPr>
          <a:xfrm>
            <a:off x="945546" y="5142832"/>
            <a:ext cx="1593772" cy="223485"/>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7F4"/>
                </a:solidFill>
                <a:latin typeface="IBM Plex Sans" pitchFamily="34" charset="0"/>
                <a:ea typeface="IBM Plex Sans" pitchFamily="34" charset="-122"/>
                <a:cs typeface="IBM Plex Sans" pitchFamily="34" charset="-120"/>
              </a:rPr>
              <a:t>Fetch public APIs</a:t>
            </a:r>
            <a:endParaRPr lang="en-US" sz="1200" dirty="0"/>
          </a:p>
        </p:txBody>
      </p:sp>
      <p:sp>
        <p:nvSpPr>
          <p:cNvPr id="16" name="Text 14"/>
          <p:cNvSpPr/>
          <p:nvPr/>
        </p:nvSpPr>
        <p:spPr>
          <a:xfrm>
            <a:off x="945546" y="5366277"/>
            <a:ext cx="1593772" cy="23874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A868"/>
                </a:solidFill>
                <a:latin typeface="JetBrains Mono" pitchFamily="49" charset="0"/>
                <a:ea typeface="JetBrains Mono" pitchFamily="49" charset="-122"/>
                <a:cs typeface="JetBrains Mono" pitchFamily="49" charset="-120"/>
              </a:rPr>
              <a:t>Jaspaal</a:t>
            </a:r>
            <a:endParaRPr lang="en-US" sz="1200" dirty="0"/>
          </a:p>
        </p:txBody>
      </p:sp>
      <p:pic>
        <p:nvPicPr>
          <p:cNvPr id="17" name="Image 0" descr="arrow-right">    </p:cNvPr>
          <p:cNvPicPr>
            <a:picLocks noChangeAspect="1"/>
          </p:cNvPicPr>
          <p:nvPr/>
        </p:nvPicPr>
        <p:blipFill>
          <a:blip r:embed="rId1"/>
          <a:srcRect l="-10" r="-10" t="0" b="0"/>
          <a:stretch/>
        </p:blipFill>
        <p:spPr>
          <a:xfrm>
            <a:off x="2697472" y="5304099"/>
            <a:ext cx="228563" cy="114259"/>
          </a:xfrm>
          <a:prstGeom prst="rect">
            <a:avLst/>
          </a:prstGeom>
        </p:spPr>
      </p:pic>
      <p:sp>
        <p:nvSpPr>
          <p:cNvPr id="18" name="Shape 15"/>
          <p:cNvSpPr/>
          <p:nvPr/>
        </p:nvSpPr>
        <p:spPr>
          <a:xfrm>
            <a:off x="3005383" y="4939589"/>
            <a:ext cx="1802230" cy="843279"/>
          </a:xfrm>
          <a:prstGeom prst="roundRect">
            <a:avLst>
              <a:gd name="adj" fmla="val 7154"/>
            </a:avLst>
          </a:prstGeom>
          <a:noFill/>
          <a:ln w="6350">
            <a:solidFill>
              <a:srgbClr val="3C6A86"/>
            </a:solidFill>
            <a:prstDash val="solid"/>
          </a:ln>
        </p:spPr>
      </p:sp>
      <p:sp>
        <p:nvSpPr>
          <p:cNvPr id="19" name="Text 16"/>
          <p:cNvSpPr/>
          <p:nvPr/>
        </p:nvSpPr>
        <p:spPr>
          <a:xfrm>
            <a:off x="3134989" y="5043789"/>
            <a:ext cx="1593817" cy="42157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7F4"/>
                </a:solidFill>
                <a:latin typeface="IBM Plex Sans" pitchFamily="34" charset="0"/>
                <a:ea typeface="IBM Plex Sans" pitchFamily="34" charset="-122"/>
                <a:cs typeface="IBM Plex Sans" pitchFamily="34" charset="-120"/>
              </a:rPr>
              <a:t>OpenAI extract + reconcile</a:t>
            </a:r>
            <a:endParaRPr lang="en-US" sz="1200" dirty="0"/>
          </a:p>
        </p:txBody>
      </p:sp>
      <p:sp>
        <p:nvSpPr>
          <p:cNvPr id="20" name="Text 17"/>
          <p:cNvSpPr/>
          <p:nvPr/>
        </p:nvSpPr>
        <p:spPr>
          <a:xfrm>
            <a:off x="3134989" y="5465320"/>
            <a:ext cx="1593817" cy="23874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A868"/>
                </a:solidFill>
                <a:latin typeface="JetBrains Mono" pitchFamily="49" charset="0"/>
                <a:ea typeface="JetBrains Mono" pitchFamily="49" charset="-122"/>
                <a:cs typeface="JetBrains Mono" pitchFamily="49" charset="-120"/>
              </a:rPr>
              <a:t>Jaspaal</a:t>
            </a:r>
            <a:endParaRPr lang="en-US" sz="1200" dirty="0"/>
          </a:p>
        </p:txBody>
      </p:sp>
      <p:pic>
        <p:nvPicPr>
          <p:cNvPr id="21" name="Image 1" descr="arrow-right">    </p:cNvPr>
          <p:cNvPicPr>
            <a:picLocks noChangeAspect="1"/>
          </p:cNvPicPr>
          <p:nvPr/>
        </p:nvPicPr>
        <p:blipFill>
          <a:blip r:embed="rId2"/>
          <a:srcRect l="-10" r="-10" t="0" b="0"/>
          <a:stretch/>
        </p:blipFill>
        <p:spPr>
          <a:xfrm>
            <a:off x="4886961" y="5304099"/>
            <a:ext cx="228563" cy="114259"/>
          </a:xfrm>
          <a:prstGeom prst="rect">
            <a:avLst/>
          </a:prstGeom>
        </p:spPr>
      </p:pic>
      <p:sp>
        <p:nvSpPr>
          <p:cNvPr id="22" name="Shape 18"/>
          <p:cNvSpPr/>
          <p:nvPr/>
        </p:nvSpPr>
        <p:spPr>
          <a:xfrm>
            <a:off x="5194871" y="4939589"/>
            <a:ext cx="1802185" cy="843279"/>
          </a:xfrm>
          <a:prstGeom prst="roundRect">
            <a:avLst>
              <a:gd name="adj" fmla="val 7154"/>
            </a:avLst>
          </a:prstGeom>
          <a:noFill/>
          <a:ln w="6350">
            <a:solidFill>
              <a:srgbClr val="3C6A86"/>
            </a:solidFill>
            <a:prstDash val="solid"/>
          </a:ln>
        </p:spPr>
      </p:sp>
      <p:sp>
        <p:nvSpPr>
          <p:cNvPr id="23" name="Text 19"/>
          <p:cNvSpPr/>
          <p:nvPr/>
        </p:nvSpPr>
        <p:spPr>
          <a:xfrm>
            <a:off x="5324478" y="5043789"/>
            <a:ext cx="1593772" cy="42157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7F4"/>
                </a:solidFill>
                <a:latin typeface="IBM Plex Sans" pitchFamily="34" charset="0"/>
                <a:ea typeface="IBM Plex Sans" pitchFamily="34" charset="-122"/>
                <a:cs typeface="IBM Plex Sans" pitchFamily="34" charset="-120"/>
              </a:rPr>
              <a:t>graph.json + clusters.json</a:t>
            </a:r>
            <a:endParaRPr lang="en-US" sz="1200" dirty="0"/>
          </a:p>
        </p:txBody>
      </p:sp>
      <p:sp>
        <p:nvSpPr>
          <p:cNvPr id="24" name="Text 20"/>
          <p:cNvSpPr/>
          <p:nvPr/>
        </p:nvSpPr>
        <p:spPr>
          <a:xfrm>
            <a:off x="5324478" y="5465320"/>
            <a:ext cx="1593772" cy="23874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A868"/>
                </a:solidFill>
                <a:latin typeface="JetBrains Mono" pitchFamily="49" charset="0"/>
                <a:ea typeface="JetBrains Mono" pitchFamily="49" charset="-122"/>
                <a:cs typeface="JetBrains Mono" pitchFamily="49" charset="-120"/>
              </a:rPr>
              <a:t>Jaspaal</a:t>
            </a:r>
            <a:endParaRPr lang="en-US" sz="1200" dirty="0"/>
          </a:p>
        </p:txBody>
      </p:sp>
      <p:pic>
        <p:nvPicPr>
          <p:cNvPr id="25" name="Image 2" descr="arrow-right">    </p:cNvPr>
          <p:cNvPicPr>
            <a:picLocks noChangeAspect="1"/>
          </p:cNvPicPr>
          <p:nvPr/>
        </p:nvPicPr>
        <p:blipFill>
          <a:blip r:embed="rId3"/>
          <a:srcRect l="-10" r="-10" t="0" b="0"/>
          <a:stretch/>
        </p:blipFill>
        <p:spPr>
          <a:xfrm>
            <a:off x="7076404" y="5304099"/>
            <a:ext cx="228563" cy="114259"/>
          </a:xfrm>
          <a:prstGeom prst="rect">
            <a:avLst/>
          </a:prstGeom>
        </p:spPr>
      </p:pic>
      <p:sp>
        <p:nvSpPr>
          <p:cNvPr id="26" name="Shape 21"/>
          <p:cNvSpPr/>
          <p:nvPr/>
        </p:nvSpPr>
        <p:spPr>
          <a:xfrm>
            <a:off x="7384314" y="5038632"/>
            <a:ext cx="1802230" cy="645193"/>
          </a:xfrm>
          <a:prstGeom prst="roundRect">
            <a:avLst>
              <a:gd name="adj" fmla="val 9350"/>
            </a:avLst>
          </a:prstGeom>
          <a:noFill/>
          <a:ln w="6350">
            <a:solidFill>
              <a:srgbClr val="3C6A86"/>
            </a:solidFill>
            <a:prstDash val="solid"/>
          </a:ln>
        </p:spPr>
      </p:sp>
      <p:sp>
        <p:nvSpPr>
          <p:cNvPr id="27" name="Text 22"/>
          <p:cNvSpPr/>
          <p:nvPr/>
        </p:nvSpPr>
        <p:spPr>
          <a:xfrm>
            <a:off x="7513921" y="5142832"/>
            <a:ext cx="1593817" cy="223485"/>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7F4"/>
                </a:solidFill>
                <a:latin typeface="IBM Plex Sans" pitchFamily="34" charset="0"/>
                <a:ea typeface="IBM Plex Sans" pitchFamily="34" charset="-122"/>
                <a:cs typeface="IBM Plex Sans" pitchFamily="34" charset="-120"/>
              </a:rPr>
              <a:t>Next.js app on Replit</a:t>
            </a:r>
            <a:endParaRPr lang="en-US" sz="1200" dirty="0"/>
          </a:p>
        </p:txBody>
      </p:sp>
      <p:sp>
        <p:nvSpPr>
          <p:cNvPr id="28" name="Text 23"/>
          <p:cNvSpPr/>
          <p:nvPr/>
        </p:nvSpPr>
        <p:spPr>
          <a:xfrm>
            <a:off x="7513921" y="5366277"/>
            <a:ext cx="1593817" cy="23874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A868"/>
                </a:solidFill>
                <a:latin typeface="JetBrains Mono" pitchFamily="49" charset="0"/>
                <a:ea typeface="JetBrains Mono" pitchFamily="49" charset="-122"/>
                <a:cs typeface="JetBrains Mono" pitchFamily="49" charset="-120"/>
              </a:rPr>
              <a:t>Vi</a:t>
            </a:r>
            <a:endParaRPr lang="en-US" sz="1200" dirty="0"/>
          </a:p>
        </p:txBody>
      </p:sp>
      <p:pic>
        <p:nvPicPr>
          <p:cNvPr id="29" name="Image 3" descr="arrow-right">    </p:cNvPr>
          <p:cNvPicPr>
            <a:picLocks noChangeAspect="1"/>
          </p:cNvPicPr>
          <p:nvPr/>
        </p:nvPicPr>
        <p:blipFill>
          <a:blip r:embed="rId4"/>
          <a:srcRect l="-10" r="-10" t="0" b="0"/>
          <a:stretch/>
        </p:blipFill>
        <p:spPr>
          <a:xfrm>
            <a:off x="9265892" y="5304099"/>
            <a:ext cx="228563" cy="114259"/>
          </a:xfrm>
          <a:prstGeom prst="rect">
            <a:avLst/>
          </a:prstGeom>
        </p:spPr>
      </p:pic>
      <p:sp>
        <p:nvSpPr>
          <p:cNvPr id="30" name="Shape 24"/>
          <p:cNvSpPr/>
          <p:nvPr/>
        </p:nvSpPr>
        <p:spPr>
          <a:xfrm>
            <a:off x="9573803" y="4939589"/>
            <a:ext cx="1802230" cy="843279"/>
          </a:xfrm>
          <a:prstGeom prst="roundRect">
            <a:avLst>
              <a:gd name="adj" fmla="val 7154"/>
            </a:avLst>
          </a:prstGeom>
          <a:noFill/>
          <a:ln w="6350">
            <a:solidFill>
              <a:srgbClr val="3C6A86"/>
            </a:solidFill>
            <a:prstDash val="solid"/>
          </a:ln>
        </p:spPr>
      </p:sp>
      <p:sp>
        <p:nvSpPr>
          <p:cNvPr id="31" name="Text 25"/>
          <p:cNvSpPr/>
          <p:nvPr/>
        </p:nvSpPr>
        <p:spPr>
          <a:xfrm>
            <a:off x="9703409" y="5043789"/>
            <a:ext cx="1593817" cy="42157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7F4"/>
                </a:solidFill>
                <a:latin typeface="IBM Plex Sans" pitchFamily="34" charset="0"/>
                <a:ea typeface="IBM Plex Sans" pitchFamily="34" charset="-122"/>
                <a:cs typeface="IBM Plex Sans" pitchFamily="34" charset="-120"/>
              </a:rPr>
              <a:t>OpenAI explain + next step</a:t>
            </a:r>
            <a:endParaRPr lang="en-US" sz="1200" dirty="0"/>
          </a:p>
        </p:txBody>
      </p:sp>
      <p:sp>
        <p:nvSpPr>
          <p:cNvPr id="32" name="Text 26"/>
          <p:cNvSpPr/>
          <p:nvPr/>
        </p:nvSpPr>
        <p:spPr>
          <a:xfrm>
            <a:off x="9703409" y="5465320"/>
            <a:ext cx="1593817" cy="238747"/>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A868"/>
                </a:solidFill>
                <a:latin typeface="JetBrains Mono" pitchFamily="49" charset="0"/>
                <a:ea typeface="JetBrains Mono" pitchFamily="49" charset="-122"/>
                <a:cs typeface="JetBrains Mono" pitchFamily="49" charset="-120"/>
              </a:rPr>
              <a:t>Jaspaal + Vi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765" y="711186"/>
            <a:ext cx="11379235" cy="238747"/>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8520E"/>
                </a:solidFill>
                <a:latin typeface="JetBrains Mono" pitchFamily="49" charset="0"/>
                <a:ea typeface="JetBrains Mono" pitchFamily="49" charset="-122"/>
                <a:cs typeface="JetBrains Mono" pitchFamily="49" charset="-120"/>
              </a:rPr>
              <a:t>TIMELINE · H0 = 11:30 AM PT, OCT 3 · SUBMIT BY 4:45 AM PT · OFFICIAL DEADLINE 6:00 AM PT (9:00 AM ET), OCT 4</a:t>
            </a:r>
            <a:endParaRPr lang="en-US" sz="1200" dirty="0"/>
          </a:p>
        </p:txBody>
      </p:sp>
      <p:sp>
        <p:nvSpPr>
          <p:cNvPr id="3" name="Text 1"/>
          <p:cNvSpPr/>
          <p:nvPr>
            <p:ph type="title"/>
          </p:nvPr>
        </p:nvSpPr>
        <p:spPr>
          <a:xfrm>
            <a:off x="812765" y="1076924"/>
            <a:ext cx="10883436" cy="416543"/>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4202B"/>
                </a:solidFill>
                <a:latin typeface="IBM Plex Sans" pitchFamily="34" charset="0"/>
                <a:ea typeface="IBM Plex Sans" pitchFamily="34" charset="-122"/>
                <a:cs typeface="IBM Plex Sans" pitchFamily="34" charset="-120"/>
              </a:rPr>
              <a:t>16 hours, three lanes, two merges</a:t>
            </a:r>
            <a:endParaRPr lang="en-US" sz="2800" dirty="0"/>
          </a:p>
        </p:txBody>
      </p:sp>
      <p:sp>
        <p:nvSpPr>
          <p:cNvPr id="4" name="Shape 2"/>
          <p:cNvSpPr/>
          <p:nvPr/>
        </p:nvSpPr>
        <p:spPr>
          <a:xfrm>
            <a:off x="11376033" y="1620458"/>
            <a:ext cx="0" cy="3641343"/>
          </a:xfrm>
          <a:prstGeom prst="line">
            <a:avLst/>
          </a:prstGeom>
          <a:noFill/>
          <a:ln w="6350">
            <a:solidFill>
              <a:srgbClr val="DDE3DE"/>
            </a:solidFill>
            <a:prstDash val="solid"/>
          </a:ln>
        </p:spPr>
      </p:sp>
      <p:sp>
        <p:nvSpPr>
          <p:cNvPr id="5" name="Shape 3"/>
          <p:cNvSpPr/>
          <p:nvPr/>
        </p:nvSpPr>
        <p:spPr>
          <a:xfrm>
            <a:off x="812765" y="5258626"/>
            <a:ext cx="10566443" cy="0"/>
          </a:xfrm>
          <a:prstGeom prst="line">
            <a:avLst/>
          </a:prstGeom>
          <a:noFill/>
          <a:ln w="6350">
            <a:solidFill>
              <a:srgbClr val="DDE3DE"/>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4358" y="1632051"/>
          <a:ext cx="10549052" cy="3623953"/>
        </p:xfrm>
        <a:graphic>
          <a:graphicData uri="http://schemas.openxmlformats.org/drawingml/2006/table">
            <a:tbl>
              <a:tblPr/>
              <a:tblGrid>
                <a:gridCol w="1265886"/>
                <a:gridCol w="1371377"/>
                <a:gridCol w="6329431"/>
                <a:gridCol w="1582358"/>
              </a:tblGrid>
              <a:tr h="331546">
                <a:tc>
                  <a:txBody>
                    <a:bodyPr/>
                    <a:lstStyle/>
                    <a:p>
                      <a:pPr indent="0" marL="0">
                        <a:lnSpc>
                          <a:spcPts val="1680"/>
                        </a:lnSpc>
                        <a:buNone/>
                      </a:pPr>
                      <a:r>
                        <a:rPr lang="en-US" sz="1200" b="1" dirty="0">
                          <a:solidFill>
                            <a:srgbClr val="14202B"/>
                          </a:solidFill>
                          <a:latin typeface="IBM Plex Sans" pitchFamily="34" charset="0"/>
                          <a:ea typeface="IBM Plex Sans" pitchFamily="34" charset="-122"/>
                          <a:cs typeface="IBM Plex Sans" pitchFamily="34" charset="-120"/>
                        </a:rPr>
                        <a:t>Time (PT)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BDC0BC"/>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DC0BC"/>
                      </a:solidFill>
                      <a:prstDash val="solid"/>
                      <a:round/>
                      <a:headEnd type="none" w="med" len="med"/>
                      <a:tailEnd type="none" w="med" len="med"/>
                    </a:lnB>
                    <a:solidFill>
                      <a:srgbClr val="EDF1EC"/>
                    </a:solidFill>
                  </a:tcPr>
                </a:tc>
                <a:tc>
                  <a:txBody>
                    <a:bodyPr/>
                    <a:lstStyle/>
                    <a:p>
                      <a:pPr indent="0" marL="0">
                        <a:lnSpc>
                          <a:spcPts val="1680"/>
                        </a:lnSpc>
                        <a:buNone/>
                      </a:pPr>
                      <a:r>
                        <a:rPr lang="en-US" sz="1200" b="1" dirty="0">
                          <a:solidFill>
                            <a:srgbClr val="14202B"/>
                          </a:solidFill>
                          <a:latin typeface="IBM Plex Sans" pitchFamily="34" charset="0"/>
                          <a:ea typeface="IBM Plex Sans" pitchFamily="34" charset="-122"/>
                          <a:cs typeface="IBM Plex Sans" pitchFamily="34" charset="-120"/>
                        </a:rPr>
                        <a:t>Block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DC0BC"/>
                      </a:solidFill>
                      <a:prstDash val="solid"/>
                      <a:round/>
                      <a:headEnd type="none" w="med" len="med"/>
                      <a:tailEnd type="none" w="med" len="med"/>
                    </a:lnL>
                    <a:lnR w="12700" cap="flat" cmpd="sng" algn="ctr">
                      <a:solidFill>
                        <a:srgbClr val="BDC0BC"/>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DC0BC"/>
                      </a:solidFill>
                      <a:prstDash val="solid"/>
                      <a:round/>
                      <a:headEnd type="none" w="med" len="med"/>
                      <a:tailEnd type="none" w="med" len="med"/>
                    </a:lnB>
                    <a:solidFill>
                      <a:srgbClr val="EDF1EC"/>
                    </a:solidFill>
                  </a:tcPr>
                </a:tc>
                <a:tc>
                  <a:txBody>
                    <a:bodyPr/>
                    <a:lstStyle/>
                    <a:p>
                      <a:pPr indent="0" marL="0">
                        <a:lnSpc>
                          <a:spcPts val="1680"/>
                        </a:lnSpc>
                        <a:buNone/>
                      </a:pPr>
                      <a:r>
                        <a:rPr lang="en-US" sz="1200" b="1" dirty="0">
                          <a:solidFill>
                            <a:srgbClr val="14202B"/>
                          </a:solidFill>
                          <a:latin typeface="IBM Plex Sans" pitchFamily="34" charset="0"/>
                          <a:ea typeface="IBM Plex Sans" pitchFamily="34" charset="-122"/>
                          <a:cs typeface="IBM Plex Sans" pitchFamily="34" charset="-120"/>
                        </a:rPr>
                        <a:t>Must be true at the end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DC0BC"/>
                      </a:solidFill>
                      <a:prstDash val="solid"/>
                      <a:round/>
                      <a:headEnd type="none" w="med" len="med"/>
                      <a:tailEnd type="none" w="med" len="med"/>
                    </a:lnL>
                    <a:lnR w="12700" cap="flat" cmpd="sng" algn="ctr">
                      <a:solidFill>
                        <a:srgbClr val="BDC0BC"/>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DC0BC"/>
                      </a:solidFill>
                      <a:prstDash val="solid"/>
                      <a:round/>
                      <a:headEnd type="none" w="med" len="med"/>
                      <a:tailEnd type="none" w="med" len="med"/>
                    </a:lnB>
                    <a:solidFill>
                      <a:srgbClr val="EDF1EC"/>
                    </a:solidFill>
                  </a:tcPr>
                </a:tc>
                <a:tc>
                  <a:txBody>
                    <a:bodyPr/>
                    <a:lstStyle/>
                    <a:p>
                      <a:pPr indent="0" marL="0">
                        <a:lnSpc>
                          <a:spcPts val="1680"/>
                        </a:lnSpc>
                        <a:buNone/>
                      </a:pPr>
                      <a:r>
                        <a:rPr lang="en-US" sz="1200" b="1" dirty="0">
                          <a:solidFill>
                            <a:srgbClr val="14202B"/>
                          </a:solidFill>
                          <a:latin typeface="IBM Plex Sans" pitchFamily="34" charset="0"/>
                          <a:ea typeface="IBM Plex Sans" pitchFamily="34" charset="-122"/>
                          <a:cs typeface="IBM Plex Sans" pitchFamily="34" charset="-120"/>
                        </a:rPr>
                        <a:t>Owner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DC0BC"/>
                      </a:solidFill>
                      <a:prstDash val="solid"/>
                      <a:round/>
                      <a:headEnd type="none" w="med" len="med"/>
                      <a:tailEnd type="none" w="med" len="med"/>
                    </a:lnL>
                    <a:lnR w="12700" cap="flat" cmpd="sng" algn="ctr">
                      <a:solidFill>
                        <a:srgbClr val="BDC0BC"/>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DC0BC"/>
                      </a:solidFill>
                      <a:prstDash val="solid"/>
                      <a:round/>
                      <a:headEnd type="none" w="med" len="med"/>
                      <a:tailEnd type="none" w="med" len="med"/>
                    </a:lnB>
                    <a:solidFill>
                      <a:srgbClr val="EDF1EC"/>
                    </a:solidFill>
                  </a:tcPr>
                </a:tc>
              </a:tr>
              <a:tr h="544893">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11:30-12:30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DC0BC"/>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Kickoff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DC0BC"/>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schema.json committed, mock graph in the app, Replit deployment live, community CSV started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DC0BC"/>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All three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DC0BC"/>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544893">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12:30-17:30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Build 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Jaspaal: 199 CVI diseases, genes, phenotypes cached · Vi: search + graph canvas on mock · Paul: CSV + parent questions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Each lane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1546">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17:30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B6C0C1"/>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C0C1"/>
                      </a:solidFill>
                      <a:prstDash val="solid"/>
                      <a:round/>
                      <a:headEnd type="none" w="med" len="med"/>
                      <a:tailEnd type="none" w="med" len="med"/>
                    </a:lnB>
                    <a:solidFill>
                      <a:srgbClr val="E4F0F2"/>
                    </a:solidFill>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Merge 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6C0C1"/>
                      </a:solidFill>
                      <a:prstDash val="solid"/>
                      <a:round/>
                      <a:headEnd type="none" w="med" len="med"/>
                      <a:tailEnd type="none" w="med" len="med"/>
                    </a:lnL>
                    <a:lnR w="12700" cap="flat" cmpd="sng" algn="ctr">
                      <a:solidFill>
                        <a:srgbClr val="B6C0C1"/>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C0C1"/>
                      </a:solidFill>
                      <a:prstDash val="solid"/>
                      <a:round/>
                      <a:headEnd type="none" w="med" len="med"/>
                      <a:tailEnd type="none" w="med" len="med"/>
                    </a:lnB>
                    <a:solidFill>
                      <a:srgbClr val="E4F0F2"/>
                    </a:solidFill>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Real graph in the app, one parent path clicks end to end, ugly is fine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6C0C1"/>
                      </a:solidFill>
                      <a:prstDash val="solid"/>
                      <a:round/>
                      <a:headEnd type="none" w="med" len="med"/>
                      <a:tailEnd type="none" w="med" len="med"/>
                    </a:lnL>
                    <a:lnR w="12700" cap="flat" cmpd="sng" algn="ctr">
                      <a:solidFill>
                        <a:srgbClr val="B6C0C1"/>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C0C1"/>
                      </a:solidFill>
                      <a:prstDash val="solid"/>
                      <a:round/>
                      <a:headEnd type="none" w="med" len="med"/>
                      <a:tailEnd type="none" w="med" len="med"/>
                    </a:lnB>
                    <a:solidFill>
                      <a:srgbClr val="E4F0F2"/>
                    </a:solidFill>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All three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6C0C1"/>
                      </a:solidFill>
                      <a:prstDash val="solid"/>
                      <a:round/>
                      <a:headEnd type="none" w="med" len="med"/>
                      <a:tailEnd type="none" w="med" len="med"/>
                    </a:lnL>
                    <a:lnR w="12700" cap="flat" cmpd="sng" algn="ctr">
                      <a:solidFill>
                        <a:srgbClr val="B6C0C1"/>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C0C1"/>
                      </a:solidFill>
                      <a:prstDash val="solid"/>
                      <a:round/>
                      <a:headEnd type="none" w="med" len="med"/>
                      <a:tailEnd type="none" w="med" len="med"/>
                    </a:lnB>
                    <a:solidFill>
                      <a:srgbClr val="E4F0F2"/>
                    </a:solidFill>
                  </a:tcPr>
                </a:tc>
              </a:tr>
              <a:tr h="544893">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17:30-22:30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C0C1"/>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Build 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C0C1"/>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Jaspaal: extraction, clusters, explain API · Vi: evidence panel, action view, no-route state · Paul: 10x case, QA 1, demo script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C0C1"/>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Each lane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C0C1"/>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1546">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22:30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7BAAF"/>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7BAAF"/>
                      </a:solidFill>
                      <a:prstDash val="solid"/>
                      <a:round/>
                      <a:headEnd type="none" w="med" len="med"/>
                      <a:tailEnd type="none" w="med" len="med"/>
                    </a:lnB>
                    <a:solidFill>
                      <a:srgbClr val="F9E9DB"/>
                    </a:solidFill>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Merge 2 + freeze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7BAAF"/>
                      </a:solidFill>
                      <a:prstDash val="solid"/>
                      <a:round/>
                      <a:headEnd type="none" w="med" len="med"/>
                      <a:tailEnd type="none" w="med" len="med"/>
                    </a:lnL>
                    <a:lnR w="12700" cap="flat" cmpd="sng" algn="ctr">
                      <a:solidFill>
                        <a:srgbClr val="C7BAAF"/>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7BAAF"/>
                      </a:solidFill>
                      <a:prstDash val="solid"/>
                      <a:round/>
                      <a:headEnd type="none" w="med" len="med"/>
                      <a:tailEnd type="none" w="med" len="med"/>
                    </a:lnB>
                    <a:solidFill>
                      <a:srgbClr val="F9E9DB"/>
                    </a:solidFill>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Deployed on Replit. No new features after this, only fixes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7BAAF"/>
                      </a:solidFill>
                      <a:prstDash val="solid"/>
                      <a:round/>
                      <a:headEnd type="none" w="med" len="med"/>
                      <a:tailEnd type="none" w="med" len="med"/>
                    </a:lnL>
                    <a:lnR w="12700" cap="flat" cmpd="sng" algn="ctr">
                      <a:solidFill>
                        <a:srgbClr val="C7BAAF"/>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7BAAF"/>
                      </a:solidFill>
                      <a:prstDash val="solid"/>
                      <a:round/>
                      <a:headEnd type="none" w="med" len="med"/>
                      <a:tailEnd type="none" w="med" len="med"/>
                    </a:lnB>
                    <a:solidFill>
                      <a:srgbClr val="F9E9DB"/>
                    </a:solidFill>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All three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7BAAF"/>
                      </a:solidFill>
                      <a:prstDash val="solid"/>
                      <a:round/>
                      <a:headEnd type="none" w="med" len="med"/>
                      <a:tailEnd type="none" w="med" len="med"/>
                    </a:lnL>
                    <a:lnR w="12700" cap="flat" cmpd="sng" algn="ctr">
                      <a:solidFill>
                        <a:srgbClr val="C7BAAF"/>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7BAAF"/>
                      </a:solidFill>
                      <a:prstDash val="solid"/>
                      <a:round/>
                      <a:headEnd type="none" w="med" len="med"/>
                      <a:tailEnd type="none" w="med" len="med"/>
                    </a:lnB>
                    <a:solidFill>
                      <a:srgbClr val="F9E9DB"/>
                    </a:solidFill>
                  </a:tcPr>
                </a:tc>
              </a:tr>
              <a:tr h="331546">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22:30-01:30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7BAAF"/>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Polish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7BAAF"/>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20-edge evidence QA, README, empty states, performance, bug fixes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7BAAF"/>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Paul QA, others fix</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7BAAF"/>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1546">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01:30-03:30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Ship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1-minute walkthrough, team video, final deploy, submission form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Paul + Vi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31546">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03:30-04:45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Buffer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Fixes only. Submitted and confirmed by 4:45 AM PT; 6:00 AM is the official deadline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680"/>
                        </a:lnSpc>
                        <a:buNone/>
                      </a:pPr>
                      <a:r>
                        <a:rPr lang="en-US" sz="1200" dirty="0">
                          <a:solidFill>
                            <a:srgbClr val="14202B"/>
                          </a:solidFill>
                          <a:latin typeface="IBM Plex Sans" pitchFamily="34" charset="0"/>
                          <a:ea typeface="IBM Plex Sans" pitchFamily="34" charset="-122"/>
                          <a:cs typeface="IBM Plex Sans" pitchFamily="34" charset="-120"/>
                        </a:rPr>
                        <a:t>All three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7" name="Text 4"/>
          <p:cNvSpPr/>
          <p:nvPr/>
        </p:nvSpPr>
        <p:spPr>
          <a:xfrm>
            <a:off x="812765" y="5414191"/>
            <a:ext cx="10883436" cy="45209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A4651"/>
                </a:solidFill>
                <a:latin typeface="IBM Plex Sans" pitchFamily="34" charset="0"/>
                <a:ea typeface="IBM Plex Sans" pitchFamily="34" charset="-122"/>
                <a:cs typeface="IBM Plex Sans" pitchFamily="34" charset="-120"/>
              </a:rPr>
              <a:t>Working rules: everything goes to main, so pull before every push and commit every 45 minutes. schema.json is the contract; change it only with all three at the table. Nothing shows in the UI without a source. After 22:30 only fixes.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765" y="609563"/>
            <a:ext cx="10883436" cy="238747"/>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8520E"/>
                </a:solidFill>
                <a:latin typeface="JetBrains Mono" pitchFamily="49" charset="0"/>
                <a:ea typeface="JetBrains Mono" pitchFamily="49" charset="-122"/>
                <a:cs typeface="JetBrains Mono" pitchFamily="49" charset="-120"/>
              </a:rPr>
              <a:t>JASPAAL · DATA AND AI · PYTHON PIPELINE, OPENAI EXTRACTION, CLUSTERS, EXPLAIN API</a:t>
            </a:r>
            <a:endParaRPr lang="en-US" sz="1200" dirty="0"/>
          </a:p>
        </p:txBody>
      </p:sp>
      <p:sp>
        <p:nvSpPr>
          <p:cNvPr id="3" name="Text 1"/>
          <p:cNvSpPr/>
          <p:nvPr>
            <p:ph type="title"/>
          </p:nvPr>
        </p:nvSpPr>
        <p:spPr>
          <a:xfrm>
            <a:off x="812765" y="949894"/>
            <a:ext cx="10883436" cy="360659"/>
          </a:xfrm>
          <a:prstGeom prst="rect">
            <a:avLst/>
          </a:prstGeom>
          <a:noFill/>
          <a:ln/>
        </p:spPr>
        <p:txBody>
          <a:bodyPr wrap="square" lIns="0" tIns="0" rIns="0" bIns="0" rtlCol="0" anchor="t">
            <a:normAutofit/>
          </a:bodyPr>
          <a:lstStyle/>
          <a:p>
            <a:pPr algn="l" indent="0" marL="0">
              <a:lnSpc>
                <a:spcPts val="2640"/>
              </a:lnSpc>
              <a:buNone/>
            </a:pPr>
            <a:r>
              <a:rPr lang="en-US" sz="2400" b="1" i="0" dirty="0">
                <a:solidFill>
                  <a:srgbClr val="14202B"/>
                </a:solidFill>
                <a:latin typeface="IBM Plex Sans" pitchFamily="34" charset="0"/>
                <a:ea typeface="IBM Plex Sans" pitchFamily="34" charset="-122"/>
                <a:cs typeface="IBM Plex Sans" pitchFamily="34" charset="-120"/>
              </a:rPr>
              <a:t>Turn 199 CVI-linked diseases into one sourced graph</a:t>
            </a:r>
            <a:endParaRPr lang="en-US" sz="2400" dirty="0"/>
          </a:p>
        </p:txBody>
      </p:sp>
      <p:sp>
        <p:nvSpPr>
          <p:cNvPr id="4" name="Text 2"/>
          <p:cNvSpPr/>
          <p:nvPr/>
        </p:nvSpPr>
        <p:spPr>
          <a:xfrm>
            <a:off x="812765" y="1412139"/>
            <a:ext cx="6241829" cy="223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76B7B"/>
                </a:solidFill>
                <a:latin typeface="IBM Plex Sans" pitchFamily="34" charset="0"/>
                <a:ea typeface="IBM Plex Sans" pitchFamily="34" charset="-122"/>
                <a:cs typeface="IBM Plex Sans" pitchFamily="34" charset="-120"/>
              </a:rPr>
              <a:t>Step by step (PT)</a:t>
            </a:r>
            <a:endParaRPr lang="en-US" sz="1300" dirty="0"/>
          </a:p>
        </p:txBody>
      </p:sp>
      <p:sp>
        <p:nvSpPr>
          <p:cNvPr id="5" name="Text 3"/>
          <p:cNvSpPr/>
          <p:nvPr/>
        </p:nvSpPr>
        <p:spPr>
          <a:xfrm>
            <a:off x="834345" y="1673761"/>
            <a:ext cx="6214535" cy="3012256"/>
          </a:xfrm>
          <a:prstGeom prst="rect">
            <a:avLst/>
          </a:prstGeom>
          <a:noFill/>
          <a:ln/>
        </p:spPr>
        <p:txBody>
          <a:bodyPr wrap="square" lIns="0" tIns="0" rIns="0" bIns="0" rtlCol="0" anchor="t">
            <a:normAutofit/>
          </a:bodyPr>
          <a:lstStyle/>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11:30</a:t>
            </a:r>
            <a:r>
              <a:rPr lang="en-US" sz="1200" dirty="0">
                <a:solidFill>
                  <a:srgbClr val="2B3844"/>
                </a:solidFill>
                <a:latin typeface="IBM Plex Sans" pitchFamily="34" charset="0"/>
                <a:ea typeface="IBM Plex Sans" pitchFamily="34" charset="-122"/>
                <a:cs typeface="IBM Plex Sans" pitchFamily="34" charset="-120"/>
              </a:rPr>
              <a:t> Write schema.json with Vi: node types; every edge carries source, url, date, confidence, kind. 30-node mock to Vi by 12:15.</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12:30</a:t>
            </a:r>
            <a:r>
              <a:rPr lang="en-US" sz="1200" dirty="0">
                <a:solidFill>
                  <a:srgbClr val="2B3844"/>
                </a:solidFill>
                <a:latin typeface="IBM Plex Sans" pitchFamily="34" charset="0"/>
                <a:ea typeface="IBM Plex Sans" pitchFamily="34" charset="-122"/>
                <a:cs typeface="IBM Plex Sans" pitchFamily="34" charset="-120"/>
              </a:rPr>
              <a:t> Monarch: all 199 diseases with HP:0100704, their genes and phenotype profiles; Reactome pathways per gene; cache raw JSON.</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14:00</a:t>
            </a:r>
            <a:r>
              <a:rPr lang="en-US" sz="1200" dirty="0">
                <a:solidFill>
                  <a:srgbClr val="2B3844"/>
                </a:solidFill>
                <a:latin typeface="IBM Plex Sans" pitchFamily="34" charset="0"/>
                <a:ea typeface="IBM Plex Sans" pitchFamily="34" charset="-122"/>
                <a:cs typeface="IBM Plex Sans" pitchFamily="34" charset="-120"/>
              </a:rPr>
              <a:t> PubMed abstracts (30 per disease), ClinicalTrials.gov and RePORTER for CVI and each gene; build_graph.py; graph.json v1 to Vi by 17:30.</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15:30</a:t>
            </a:r>
            <a:r>
              <a:rPr lang="en-US" sz="1200" dirty="0">
                <a:solidFill>
                  <a:srgbClr val="2B3844"/>
                </a:solidFill>
                <a:latin typeface="IBM Plex Sans" pitchFamily="34" charset="0"/>
                <a:ea typeface="IBM Plex Sans" pitchFamily="34" charset="-122"/>
                <a:cs typeface="IBM Plex Sans" pitchFamily="34" charset="-120"/>
              </a:rPr>
              <a:t> OpenAI extraction (gpt-6-luna, Structured Outputs): claims to edges with PMID + span, kind = inferred; names to ids via synonyms, then embeddings.</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18:00</a:t>
            </a:r>
            <a:r>
              <a:rPr lang="en-US" sz="1200" dirty="0">
                <a:solidFill>
                  <a:srgbClr val="2B3844"/>
                </a:solidFill>
                <a:latin typeface="IBM Plex Sans" pitchFamily="34" charset="0"/>
                <a:ea typeface="IBM Plex Sans" pitchFamily="34" charset="-122"/>
                <a:cs typeface="IBM Plex Sans" pitchFamily="34" charset="-120"/>
              </a:rPr>
              <a:t> networkx: Jaccard(HPO) + shared pathway + shared gene; Louvain clusters; betweenness bridges; clusters.json. Ingest Paul's CSV as org and asset nodes.</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20:00</a:t>
            </a:r>
            <a:r>
              <a:rPr lang="en-US" sz="1200" dirty="0">
                <a:solidFill>
                  <a:srgbClr val="2B3844"/>
                </a:solidFill>
                <a:latin typeface="IBM Plex Sans" pitchFamily="34" charset="0"/>
                <a:ea typeface="IBM Plex Sans" pitchFamily="34" charset="-122"/>
                <a:cs typeface="IBM Plex Sans" pitchFamily="34" charset="-120"/>
              </a:rPr>
              <a:t> /api/explain and /api/next-step with Vi: gpt-6.1-sol, every sentence cites an edge id; delete-an-edge hallucination test.</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22:30</a:t>
            </a:r>
            <a:r>
              <a:rPr lang="en-US" sz="1200" dirty="0">
                <a:solidFill>
                  <a:srgbClr val="2B3844"/>
                </a:solidFill>
                <a:latin typeface="IBM Plex Sans" pitchFamily="34" charset="0"/>
                <a:ea typeface="IBM Plex Sans" pitchFamily="34" charset="-122"/>
                <a:cs typeface="IBM Plex Sans" pitchFamily="34" charset="-120"/>
              </a:rPr>
              <a:t> Freeze. make graph rebuilds from cache in under 5 minutes; README data section with counts.</a:t>
            </a:r>
            <a:endParaRPr lang="en-US" sz="1200" dirty="0"/>
          </a:p>
        </p:txBody>
      </p:sp>
      <p:sp>
        <p:nvSpPr>
          <p:cNvPr id="6" name="Shape 4"/>
          <p:cNvSpPr/>
          <p:nvPr/>
        </p:nvSpPr>
        <p:spPr>
          <a:xfrm>
            <a:off x="7053765" y="1415314"/>
            <a:ext cx="4322268" cy="2428231"/>
          </a:xfrm>
          <a:prstGeom prst="roundRect">
            <a:avLst>
              <a:gd name="adj" fmla="val 3007"/>
            </a:avLst>
          </a:prstGeom>
          <a:solidFill>
            <a:srgbClr val="FDFDFB"/>
          </a:solidFill>
          <a:ln w="6350">
            <a:solidFill>
              <a:srgbClr val="DDE3DE"/>
            </a:solidFill>
            <a:prstDash val="solid"/>
          </a:ln>
        </p:spPr>
      </p:sp>
      <p:sp>
        <p:nvSpPr>
          <p:cNvPr id="7" name="Text 5"/>
          <p:cNvSpPr/>
          <p:nvPr/>
        </p:nvSpPr>
        <p:spPr>
          <a:xfrm>
            <a:off x="7208777" y="1544920"/>
            <a:ext cx="4132610" cy="223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02B"/>
                </a:solidFill>
                <a:latin typeface="IBM Plex Sans" pitchFamily="34" charset="0"/>
                <a:ea typeface="IBM Plex Sans" pitchFamily="34" charset="-122"/>
                <a:cs typeface="IBM Plex Sans" pitchFamily="34" charset="-120"/>
              </a:rPr>
              <a:t>Tools and APIs</a:t>
            </a:r>
            <a:endParaRPr lang="en-US" sz="1300" dirty="0"/>
          </a:p>
        </p:txBody>
      </p:sp>
      <p:sp>
        <p:nvSpPr>
          <p:cNvPr id="8" name="Text 6"/>
          <p:cNvSpPr/>
          <p:nvPr/>
        </p:nvSpPr>
        <p:spPr>
          <a:xfrm>
            <a:off x="7218683" y="1793816"/>
            <a:ext cx="4117751" cy="1945522"/>
          </a:xfrm>
          <a:prstGeom prst="rect">
            <a:avLst/>
          </a:prstGeom>
          <a:noFill/>
          <a:ln/>
        </p:spPr>
        <p:txBody>
          <a:bodyPr wrap="square" lIns="0" tIns="0" rIns="0" bIns="0" rtlCol="0" anchor="t">
            <a:normAutofit/>
          </a:bodyPr>
          <a:lstStyle/>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Monarch API v3: association?object=HP:0100704, then entity and association per disease</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Reactome ContentService: gene to pathway</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NCBI E-utilities: PubMed abstracts (free api_key = 10 req/s)</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ClinicalTrials.gov API v2 + NIH RePORTER API v2</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OpenAI: gpt-6-luna + Structured Outputs, text-embedding-3-small, gpt-6.1-sol</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Python: httpx, pandas, networkx, pydantic, openai</a:t>
            </a:r>
            <a:endParaRPr lang="en-US" sz="1200" dirty="0"/>
          </a:p>
        </p:txBody>
      </p:sp>
      <p:sp>
        <p:nvSpPr>
          <p:cNvPr id="9" name="Shape 7"/>
          <p:cNvSpPr/>
          <p:nvPr/>
        </p:nvSpPr>
        <p:spPr>
          <a:xfrm>
            <a:off x="7053765" y="3951474"/>
            <a:ext cx="4322268" cy="1788191"/>
          </a:xfrm>
          <a:prstGeom prst="roundRect">
            <a:avLst>
              <a:gd name="adj" fmla="val 4084"/>
            </a:avLst>
          </a:prstGeom>
          <a:solidFill>
            <a:srgbClr val="FDFDFB"/>
          </a:solidFill>
          <a:ln w="6350">
            <a:solidFill>
              <a:srgbClr val="DDE3DE"/>
            </a:solidFill>
            <a:prstDash val="solid"/>
          </a:ln>
        </p:spPr>
      </p:sp>
      <p:sp>
        <p:nvSpPr>
          <p:cNvPr id="10" name="Text 8"/>
          <p:cNvSpPr/>
          <p:nvPr/>
        </p:nvSpPr>
        <p:spPr>
          <a:xfrm>
            <a:off x="7208777" y="4081080"/>
            <a:ext cx="4132610" cy="223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02B"/>
                </a:solidFill>
                <a:latin typeface="IBM Plex Sans" pitchFamily="34" charset="0"/>
                <a:ea typeface="IBM Plex Sans" pitchFamily="34" charset="-122"/>
                <a:cs typeface="IBM Plex Sans" pitchFamily="34" charset="-120"/>
              </a:rPr>
              <a:t>Hints</a:t>
            </a:r>
            <a:endParaRPr lang="en-US" sz="1300" dirty="0"/>
          </a:p>
        </p:txBody>
      </p:sp>
      <p:sp>
        <p:nvSpPr>
          <p:cNvPr id="11" name="Text 9"/>
          <p:cNvSpPr/>
          <p:nvPr/>
        </p:nvSpPr>
        <p:spPr>
          <a:xfrm>
            <a:off x="7218683" y="4329976"/>
            <a:ext cx="4117751" cy="1305481"/>
          </a:xfrm>
          <a:prstGeom prst="rect">
            <a:avLst/>
          </a:prstGeom>
          <a:noFill/>
          <a:ln/>
        </p:spPr>
        <p:txBody>
          <a:bodyPr wrap="square" lIns="0" tIns="0" rIns="0" bIns="0" rtlCol="0" anchor="t">
            <a:normAutofit/>
          </a:bodyPr>
          <a:lstStyle/>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10 diseases end to end first, then all 199.</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Ids, never names: MONDO, HGNC, HPO, PMID, NCT.</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Skip OMIM API (key approval takes days) and GPT-Rosalind (trusted access only).</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Precompute everything; live calls only for resolve, explain, next step.</a:t>
            </a:r>
            <a:endParaRPr lang="en-US" sz="1200" dirty="0"/>
          </a:p>
        </p:txBody>
      </p:sp>
      <p:sp>
        <p:nvSpPr>
          <p:cNvPr id="12" name="Text 10"/>
          <p:cNvSpPr/>
          <p:nvPr/>
        </p:nvSpPr>
        <p:spPr>
          <a:xfrm>
            <a:off x="812765" y="6024931"/>
            <a:ext cx="10883390" cy="452094"/>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6B7B"/>
                </a:solidFill>
                <a:latin typeface="IBM Plex Sans" pitchFamily="34" charset="0"/>
                <a:ea typeface="IBM Plex Sans" pitchFamily="34" charset="-122"/>
                <a:cs typeface="IBM Plex Sans" pitchFamily="34" charset="-120"/>
              </a:rPr>
              <a:t>Done when: make graph yields graph.json + clusters.json with 199 diseases, genes, pathways, 3+ clusters, every edge sourced; explain cites only real edge ids.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765" y="609563"/>
            <a:ext cx="10883436" cy="238747"/>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8520E"/>
                </a:solidFill>
                <a:latin typeface="JetBrains Mono" pitchFamily="49" charset="0"/>
                <a:ea typeface="JetBrains Mono" pitchFamily="49" charset="-122"/>
                <a:cs typeface="JetBrains Mono" pitchFamily="49" charset="-120"/>
              </a:rPr>
              <a:t>VI · PRODUCT AND INFRA · NEXT.JS ON REPLIT, SEARCH, GRAPH CANVAS, EVIDENCE, DEPLOY</a:t>
            </a:r>
            <a:endParaRPr lang="en-US" sz="1200" dirty="0"/>
          </a:p>
        </p:txBody>
      </p:sp>
      <p:sp>
        <p:nvSpPr>
          <p:cNvPr id="3" name="Text 1"/>
          <p:cNvSpPr/>
          <p:nvPr>
            <p:ph type="title"/>
          </p:nvPr>
        </p:nvSpPr>
        <p:spPr>
          <a:xfrm>
            <a:off x="812765" y="949894"/>
            <a:ext cx="10883436" cy="360659"/>
          </a:xfrm>
          <a:prstGeom prst="rect">
            <a:avLst/>
          </a:prstGeom>
          <a:noFill/>
          <a:ln/>
        </p:spPr>
        <p:txBody>
          <a:bodyPr wrap="square" lIns="0" tIns="0" rIns="0" bIns="0" rtlCol="0" anchor="t">
            <a:normAutofit/>
          </a:bodyPr>
          <a:lstStyle/>
          <a:p>
            <a:pPr algn="l" indent="0" marL="0">
              <a:lnSpc>
                <a:spcPts val="2640"/>
              </a:lnSpc>
              <a:buNone/>
            </a:pPr>
            <a:r>
              <a:rPr lang="en-US" sz="2400" b="1" i="0" dirty="0">
                <a:solidFill>
                  <a:srgbClr val="14202B"/>
                </a:solidFill>
                <a:latin typeface="IBM Plex Sans" pitchFamily="34" charset="0"/>
                <a:ea typeface="IBM Plex Sans" pitchFamily="34" charset="-122"/>
                <a:cs typeface="IBM Plex Sans" pitchFamily="34" charset="-120"/>
              </a:rPr>
              <a:t>Make the graph usable by a parent at 2 a.m.</a:t>
            </a:r>
            <a:endParaRPr lang="en-US" sz="2400" dirty="0"/>
          </a:p>
        </p:txBody>
      </p:sp>
      <p:sp>
        <p:nvSpPr>
          <p:cNvPr id="4" name="Text 2"/>
          <p:cNvSpPr/>
          <p:nvPr/>
        </p:nvSpPr>
        <p:spPr>
          <a:xfrm>
            <a:off x="812765" y="1412139"/>
            <a:ext cx="6241829" cy="223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76B7B"/>
                </a:solidFill>
                <a:latin typeface="IBM Plex Sans" pitchFamily="34" charset="0"/>
                <a:ea typeface="IBM Plex Sans" pitchFamily="34" charset="-122"/>
                <a:cs typeface="IBM Plex Sans" pitchFamily="34" charset="-120"/>
              </a:rPr>
              <a:t>Step by step (PT)</a:t>
            </a:r>
            <a:endParaRPr lang="en-US" sz="1300" dirty="0"/>
          </a:p>
        </p:txBody>
      </p:sp>
      <p:sp>
        <p:nvSpPr>
          <p:cNvPr id="5" name="Text 3"/>
          <p:cNvSpPr/>
          <p:nvPr/>
        </p:nvSpPr>
        <p:spPr>
          <a:xfrm>
            <a:off x="834345" y="1673761"/>
            <a:ext cx="6214535" cy="3225603"/>
          </a:xfrm>
          <a:prstGeom prst="rect">
            <a:avLst/>
          </a:prstGeom>
          <a:noFill/>
          <a:ln/>
        </p:spPr>
        <p:txBody>
          <a:bodyPr wrap="square" lIns="0" tIns="0" rIns="0" bIns="0" rtlCol="0" anchor="t">
            <a:normAutofit/>
          </a:bodyPr>
          <a:lstStyle/>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11:30</a:t>
            </a:r>
            <a:r>
              <a:rPr lang="en-US" sz="1200" dirty="0">
                <a:solidFill>
                  <a:srgbClr val="2B3844"/>
                </a:solidFill>
                <a:latin typeface="IBM Plex Sans" pitchFamily="34" charset="0"/>
                <a:ea typeface="IBM Plex Sans" pitchFamily="34" charset="-122"/>
                <a:cs typeface="IBM Plex Sans" pitchFamily="34" charset="-120"/>
              </a:rPr>
              <a:t> Replit: Next.js + TypeScript + Tailwind, GitHub main connected, first deployment live by 12:00. Agree schema.json with Jaspaal.</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12:15</a:t>
            </a:r>
            <a:r>
              <a:rPr lang="en-US" sz="1200" dirty="0">
                <a:solidFill>
                  <a:srgbClr val="2B3844"/>
                </a:solidFill>
                <a:latin typeface="IBM Plex Sans" pitchFamily="34" charset="0"/>
                <a:ea typeface="IBM Plex Sans" pitchFamily="34" charset="-122"/>
                <a:cs typeface="IBM Plex Sans" pitchFamily="34" charset="-120"/>
              </a:rPr>
              <a:t> Mock loader with Zod types from schema.json + index by id, name, synonym. Tokens: white, system font, one blue, 12px radius.</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13:00</a:t>
            </a:r>
            <a:r>
              <a:rPr lang="en-US" sz="1200" dirty="0">
                <a:solidFill>
                  <a:srgbClr val="2B3844"/>
                </a:solidFill>
                <a:latin typeface="IBM Plex Sans" pitchFamily="34" charset="0"/>
                <a:ea typeface="IBM Plex Sans" pitchFamily="34" charset="-122"/>
                <a:cs typeface="IBM Plex Sans" pitchFamily="34" charset="-120"/>
              </a:rPr>
              <a:t> One global search (disease, gene, symptom, org): index hits first, free text to /api/resolve.</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14:30</a:t>
            </a:r>
            <a:r>
              <a:rPr lang="en-US" sz="1200" dirty="0">
                <a:solidFill>
                  <a:srgbClr val="2B3844"/>
                </a:solidFill>
                <a:latin typeface="IBM Plex Sans" pitchFamily="34" charset="0"/>
                <a:ea typeface="IBM Plex Sans" pitchFamily="34" charset="-122"/>
                <a:cs typeface="IBM Plex Sans" pitchFamily="34" charset="-120"/>
              </a:rPr>
              <a:t> Graph canvas (Cytoscape.js or react-force-graph-2d): color = cluster, size = centrality, dashed = inferred or bridge; split view on desktop, bottom sheet on mobile.</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17:30</a:t>
            </a:r>
            <a:r>
              <a:rPr lang="en-US" sz="1200" dirty="0">
                <a:solidFill>
                  <a:srgbClr val="2B3844"/>
                </a:solidFill>
                <a:latin typeface="IBM Plex Sans" pitchFamily="34" charset="0"/>
                <a:ea typeface="IBM Plex Sans" pitchFamily="34" charset="-122"/>
                <a:cs typeface="IBM Plex Sans" pitchFamily="34" charset="-120"/>
              </a:rPr>
              <a:t> Merge 1: swap in graph.json; one parent path clicks end to end, polish later.</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18:30</a:t>
            </a:r>
            <a:r>
              <a:rPr lang="en-US" sz="1200" dirty="0">
                <a:solidFill>
                  <a:srgbClr val="2B3844"/>
                </a:solidFill>
                <a:latin typeface="IBM Plex Sans" pitchFamily="34" charset="0"/>
                <a:ea typeface="IBM Plex Sans" pitchFamily="34" charset="-122"/>
                <a:cs typeface="IBM Plex Sans" pitchFamily="34" charset="-120"/>
              </a:rPr>
              <a:t> Evidence panel on every edge: relation, source link, date, confidence, observed vs inferred, contradictions in their own block.</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20:30</a:t>
            </a:r>
            <a:r>
              <a:rPr lang="en-US" sz="1200" dirty="0">
                <a:solidFill>
                  <a:srgbClr val="2B3844"/>
                </a:solidFill>
                <a:latin typeface="IBM Plex Sans" pitchFamily="34" charset="0"/>
                <a:ea typeface="IBM Plex Sans" pitchFamily="34" charset="-122"/>
                <a:cs typeface="IBM Plex Sans" pitchFamily="34" charset="-120"/>
              </a:rPr>
              <a:t> Action view: assets, partners, next step from /api/next-step; the No supported route state; wire /api/explain.</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22:30</a:t>
            </a:r>
            <a:r>
              <a:rPr lang="en-US" sz="1200" dirty="0">
                <a:solidFill>
                  <a:srgbClr val="2B3844"/>
                </a:solidFill>
                <a:latin typeface="IBM Plex Sans" pitchFamily="34" charset="0"/>
                <a:ea typeface="IBM Plex Sans" pitchFamily="34" charset="-122"/>
                <a:cs typeface="IBM Plex Sans" pitchFamily="34" charset="-120"/>
              </a:rPr>
              <a:t> Freeze. Empty, loading, error states; smooth with 500 nodes (show one cluster at a time); rehearse with Paul at 23:00.</a:t>
            </a:r>
            <a:endParaRPr lang="en-US" sz="1200" dirty="0"/>
          </a:p>
        </p:txBody>
      </p:sp>
      <p:sp>
        <p:nvSpPr>
          <p:cNvPr id="6" name="Shape 4"/>
          <p:cNvSpPr/>
          <p:nvPr/>
        </p:nvSpPr>
        <p:spPr>
          <a:xfrm>
            <a:off x="7053765" y="1415314"/>
            <a:ext cx="4322268" cy="2001538"/>
          </a:xfrm>
          <a:prstGeom prst="roundRect">
            <a:avLst>
              <a:gd name="adj" fmla="val 3648"/>
            </a:avLst>
          </a:prstGeom>
          <a:solidFill>
            <a:srgbClr val="FDFDFB"/>
          </a:solidFill>
          <a:ln w="6350">
            <a:solidFill>
              <a:srgbClr val="DDE3DE"/>
            </a:solidFill>
            <a:prstDash val="solid"/>
          </a:ln>
        </p:spPr>
      </p:sp>
      <p:sp>
        <p:nvSpPr>
          <p:cNvPr id="7" name="Text 5"/>
          <p:cNvSpPr/>
          <p:nvPr/>
        </p:nvSpPr>
        <p:spPr>
          <a:xfrm>
            <a:off x="7208777" y="1544920"/>
            <a:ext cx="4132610" cy="223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02B"/>
                </a:solidFill>
                <a:latin typeface="IBM Plex Sans" pitchFamily="34" charset="0"/>
                <a:ea typeface="IBM Plex Sans" pitchFamily="34" charset="-122"/>
                <a:cs typeface="IBM Plex Sans" pitchFamily="34" charset="-120"/>
              </a:rPr>
              <a:t>Tools</a:t>
            </a:r>
            <a:endParaRPr lang="en-US" sz="1300" dirty="0"/>
          </a:p>
        </p:txBody>
      </p:sp>
      <p:sp>
        <p:nvSpPr>
          <p:cNvPr id="8" name="Text 6"/>
          <p:cNvSpPr/>
          <p:nvPr/>
        </p:nvSpPr>
        <p:spPr>
          <a:xfrm>
            <a:off x="7218683" y="1793816"/>
            <a:ext cx="4117751" cy="1518828"/>
          </a:xfrm>
          <a:prstGeom prst="rect">
            <a:avLst/>
          </a:prstGeom>
          <a:noFill/>
          <a:ln/>
        </p:spPr>
        <p:txBody>
          <a:bodyPr wrap="square" lIns="0" tIns="0" rIns="0" bIns="0" rtlCol="0" anchor="t">
            <a:normAutofit/>
          </a:bodyPr>
          <a:lstStyle/>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Replit: Next.js 15 + TypeScript, Tailwind, Zod; Autoscale deployment; OPENAI_API_KEY in Secrets</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Cytoscape.js or react-force-graph-2d</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graph.json static in /public, loaded once; Replit Postgres only if needed</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GitHub main: pull before push, commit every 45 minutes</a:t>
            </a:r>
            <a:endParaRPr lang="en-US" sz="1200" dirty="0"/>
          </a:p>
        </p:txBody>
      </p:sp>
      <p:sp>
        <p:nvSpPr>
          <p:cNvPr id="9" name="Shape 7"/>
          <p:cNvSpPr/>
          <p:nvPr/>
        </p:nvSpPr>
        <p:spPr>
          <a:xfrm>
            <a:off x="7053765" y="3524779"/>
            <a:ext cx="4322268" cy="2001538"/>
          </a:xfrm>
          <a:prstGeom prst="roundRect">
            <a:avLst>
              <a:gd name="adj" fmla="val 3648"/>
            </a:avLst>
          </a:prstGeom>
          <a:solidFill>
            <a:srgbClr val="FDFDFB"/>
          </a:solidFill>
          <a:ln w="6350">
            <a:solidFill>
              <a:srgbClr val="DDE3DE"/>
            </a:solidFill>
            <a:prstDash val="solid"/>
          </a:ln>
        </p:spPr>
      </p:sp>
      <p:sp>
        <p:nvSpPr>
          <p:cNvPr id="10" name="Text 8"/>
          <p:cNvSpPr/>
          <p:nvPr/>
        </p:nvSpPr>
        <p:spPr>
          <a:xfrm>
            <a:off x="7208777" y="3654386"/>
            <a:ext cx="4132610" cy="223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02B"/>
                </a:solidFill>
                <a:latin typeface="IBM Plex Sans" pitchFamily="34" charset="0"/>
                <a:ea typeface="IBM Plex Sans" pitchFamily="34" charset="-122"/>
                <a:cs typeface="IBM Plex Sans" pitchFamily="34" charset="-120"/>
              </a:rPr>
              <a:t>Hints</a:t>
            </a:r>
            <a:endParaRPr lang="en-US" sz="1300" dirty="0"/>
          </a:p>
        </p:txBody>
      </p:sp>
      <p:sp>
        <p:nvSpPr>
          <p:cNvPr id="11" name="Text 9"/>
          <p:cNvSpPr/>
          <p:nvPr/>
        </p:nvSpPr>
        <p:spPr>
          <a:xfrm>
            <a:off x="7218683" y="3903283"/>
            <a:ext cx="4117751" cy="1518828"/>
          </a:xfrm>
          <a:prstGeom prst="rect">
            <a:avLst/>
          </a:prstGeom>
          <a:noFill/>
          <a:ln/>
        </p:spPr>
        <p:txBody>
          <a:bodyPr wrap="square" lIns="0" tIns="0" rIns="0" bIns="0" rtlCol="0" anchor="t">
            <a:normAutofit/>
          </a:bodyPr>
          <a:lstStyle/>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Apple vibe: white, space, one accent, text labels, no chart junk.</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Summary first, depth on click; one cluster on screen at a time.</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Build on the mock; never wait for real data.</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Routes: /search, /disease/[id], /cluster/[id], /path/[a]/[b].</a:t>
            </a:r>
            <a:endParaRPr lang="en-US" sz="1200" dirty="0"/>
          </a:p>
        </p:txBody>
      </p:sp>
      <p:sp>
        <p:nvSpPr>
          <p:cNvPr id="12" name="Text 10"/>
          <p:cNvSpPr/>
          <p:nvPr/>
        </p:nvSpPr>
        <p:spPr>
          <a:xfrm>
            <a:off x="812765" y="6238280"/>
            <a:ext cx="10883390" cy="238747"/>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6B7B"/>
                </a:solidFill>
                <a:latin typeface="IBM Plex Sans" pitchFamily="34" charset="0"/>
                <a:ea typeface="IBM Plex Sans" pitchFamily="34" charset="-122"/>
                <a:cs typeface="IBM Plex Sans" pitchFamily="34" charset="-120"/>
              </a:rPr>
              <a:t>Done when: live Replit URL; CVI search to cluster to edge evidence to action view works on real data; no-route state exists; usable on a phone.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765" y="609563"/>
            <a:ext cx="10883436" cy="238747"/>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8520E"/>
                </a:solidFill>
                <a:latin typeface="JetBrains Mono" pitchFamily="49" charset="0"/>
                <a:ea typeface="JetBrains Mono" pitchFamily="49" charset="-122"/>
                <a:cs typeface="JetBrains Mono" pitchFamily="49" charset="-120"/>
              </a:rPr>
              <a:t>PAUL · DOMAIN, EVIDENCE AND STORY · CVI COMMUNITY DATA, QA, 10X CASE, VIDEO, SUBMISSION</a:t>
            </a:r>
            <a:endParaRPr lang="en-US" sz="1200" dirty="0"/>
          </a:p>
        </p:txBody>
      </p:sp>
      <p:sp>
        <p:nvSpPr>
          <p:cNvPr id="3" name="Text 1"/>
          <p:cNvSpPr/>
          <p:nvPr>
            <p:ph type="title"/>
          </p:nvPr>
        </p:nvSpPr>
        <p:spPr>
          <a:xfrm>
            <a:off x="812765" y="949896"/>
            <a:ext cx="10883436" cy="360659"/>
          </a:xfrm>
          <a:prstGeom prst="rect">
            <a:avLst/>
          </a:prstGeom>
          <a:noFill/>
          <a:ln/>
        </p:spPr>
        <p:txBody>
          <a:bodyPr wrap="square" lIns="0" tIns="0" rIns="0" bIns="0" rtlCol="0" anchor="t">
            <a:normAutofit/>
          </a:bodyPr>
          <a:lstStyle/>
          <a:p>
            <a:pPr algn="l" indent="0" marL="0">
              <a:lnSpc>
                <a:spcPts val="2640"/>
              </a:lnSpc>
              <a:buNone/>
            </a:pPr>
            <a:r>
              <a:rPr lang="en-US" sz="2400" b="1" i="0" dirty="0">
                <a:solidFill>
                  <a:srgbClr val="14202B"/>
                </a:solidFill>
                <a:latin typeface="IBM Plex Sans" pitchFamily="34" charset="0"/>
                <a:ea typeface="IBM Plex Sans" pitchFamily="34" charset="-122"/>
                <a:cs typeface="IBM Plex Sans" pitchFamily="34" charset="-120"/>
              </a:rPr>
              <a:t>Keep it true, keep it human, get it submitted</a:t>
            </a:r>
            <a:endParaRPr lang="en-US" sz="2400" dirty="0"/>
          </a:p>
        </p:txBody>
      </p:sp>
      <p:sp>
        <p:nvSpPr>
          <p:cNvPr id="4" name="Text 2"/>
          <p:cNvSpPr/>
          <p:nvPr/>
        </p:nvSpPr>
        <p:spPr>
          <a:xfrm>
            <a:off x="812765" y="1412137"/>
            <a:ext cx="6241829" cy="223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76B7B"/>
                </a:solidFill>
                <a:latin typeface="IBM Plex Sans" pitchFamily="34" charset="0"/>
                <a:ea typeface="IBM Plex Sans" pitchFamily="34" charset="-122"/>
                <a:cs typeface="IBM Plex Sans" pitchFamily="34" charset="-120"/>
              </a:rPr>
              <a:t>Step by step (PT)</a:t>
            </a:r>
            <a:endParaRPr lang="en-US" sz="1300" dirty="0"/>
          </a:p>
        </p:txBody>
      </p:sp>
      <p:sp>
        <p:nvSpPr>
          <p:cNvPr id="5" name="Text 3"/>
          <p:cNvSpPr/>
          <p:nvPr/>
        </p:nvSpPr>
        <p:spPr>
          <a:xfrm>
            <a:off x="834345" y="1673761"/>
            <a:ext cx="6214535" cy="2798909"/>
          </a:xfrm>
          <a:prstGeom prst="rect">
            <a:avLst/>
          </a:prstGeom>
          <a:noFill/>
          <a:ln/>
        </p:spPr>
        <p:txBody>
          <a:bodyPr wrap="square" lIns="0" tIns="0" rIns="0" bIns="0" rtlCol="0" anchor="t">
            <a:normAutofit/>
          </a:bodyPr>
          <a:lstStyle/>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11:30</a:t>
            </a:r>
            <a:r>
              <a:rPr lang="en-US" sz="1200" dirty="0">
                <a:solidFill>
                  <a:srgbClr val="2B3844"/>
                </a:solidFill>
                <a:latin typeface="IBM Plex Sans" pitchFamily="34" charset="0"/>
                <a:ea typeface="IBM Plex Sans" pitchFamily="34" charset="-122"/>
                <a:cs typeface="IBM Plex Sans" pitchFamily="34" charset="-120"/>
              </a:rPr>
              <a:t> Write the parent's three questions in plain words and the exact demo path: what she types, what she must see. This is the team's definition of done.</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12:00</a:t>
            </a:r>
            <a:r>
              <a:rPr lang="en-US" sz="1200" dirty="0">
                <a:solidFill>
                  <a:srgbClr val="2B3844"/>
                </a:solidFill>
                <a:latin typeface="IBM Plex Sans" pitchFamily="34" charset="0"/>
                <a:ea typeface="IBM Plex Sans" pitchFamily="34" charset="-122"/>
                <a:cs typeface="IBM Plex Sans" pitchFamily="34" charset="-120"/>
              </a:rPr>
              <a:t> CVI community CSV: patient groups (PCVIS, Perkins CVI Now, CVI Scotland), gene foundations, registries, assessments, investigators, centers; one URL per row.</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14:00</a:t>
            </a:r>
            <a:r>
              <a:rPr lang="en-US" sz="1200" dirty="0">
                <a:solidFill>
                  <a:srgbClr val="2B3844"/>
                </a:solidFill>
                <a:latin typeface="IBM Plex Sans" pitchFamily="34" charset="0"/>
                <a:ea typeface="IBM Plex Sans" pitchFamily="34" charset="-122"/>
                <a:cs typeface="IBM Plex Sans" pitchFamily="34" charset="-120"/>
              </a:rPr>
              <a:t> With Jaspaal, pick 3 demo conditions from the 199: each needs a gene, a group and a reusable asset. One-line story each.</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16:00</a:t>
            </a:r>
            <a:r>
              <a:rPr lang="en-US" sz="1200" dirty="0">
                <a:solidFill>
                  <a:srgbClr val="2B3844"/>
                </a:solidFill>
                <a:latin typeface="IBM Plex Sans" pitchFamily="34" charset="0"/>
                <a:ea typeface="IBM Plex Sans" pitchFamily="34" charset="-122"/>
                <a:cs typeface="IBM Plex Sans" pitchFamily="34" charset="-120"/>
              </a:rPr>
              <a:t> 10x case: today's route for a family vs the atlas route to a shared study; cite one real timeline; 3 assumptions max.</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18:00</a:t>
            </a:r>
            <a:r>
              <a:rPr lang="en-US" sz="1200" dirty="0">
                <a:solidFill>
                  <a:srgbClr val="2B3844"/>
                </a:solidFill>
                <a:latin typeface="IBM Plex Sans" pitchFamily="34" charset="0"/>
                <a:ea typeface="IBM Plex Sans" pitchFamily="34" charset="-122"/>
                <a:cs typeface="IBM Plex Sans" pitchFamily="34" charset="-120"/>
              </a:rPr>
              <a:t> QA round 1: 10 edges, open the source, true or false, report misses to Jaspaal.</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20:00</a:t>
            </a:r>
            <a:r>
              <a:rPr lang="en-US" sz="1200" dirty="0">
                <a:solidFill>
                  <a:srgbClr val="2B3844"/>
                </a:solidFill>
                <a:latin typeface="IBM Plex Sans" pitchFamily="34" charset="0"/>
                <a:ea typeface="IBM Plex Sans" pitchFamily="34" charset="-122"/>
                <a:cs typeface="IBM Plex Sans" pitchFamily="34" charset="-120"/>
              </a:rPr>
              <a:t> Demo script (60 s) + README narrative: problem, who it is for, observed vs inferred, limits. QA round 2: 20 edges, numbers into README.</a:t>
            </a:r>
            <a:endParaRPr lang="en-US" sz="1200" dirty="0"/>
          </a:p>
          <a:p>
            <a:pPr algn="l" marL="168920" indent="-168920">
              <a:lnSpc>
                <a:spcPts val="1680"/>
              </a:lnSpc>
              <a:buSzPct val="100000"/>
              <a:buFontTx/>
              <a:buAutoNum type="arabicPeriod" startAt="1"/>
            </a:pPr>
            <a:r>
              <a:rPr lang="en-US" sz="1200" b="1" dirty="0">
                <a:solidFill>
                  <a:srgbClr val="2B3844"/>
                </a:solidFill>
                <a:latin typeface="IBM Plex Sans" pitchFamily="34" charset="0"/>
                <a:ea typeface="IBM Plex Sans" pitchFamily="34" charset="-122"/>
                <a:cs typeface="IBM Plex Sans" pitchFamily="34" charset="-120"/>
              </a:rPr>
              <a:t>23:00</a:t>
            </a:r>
            <a:r>
              <a:rPr lang="en-US" sz="1200" dirty="0">
                <a:solidFill>
                  <a:srgbClr val="2B3844"/>
                </a:solidFill>
                <a:latin typeface="IBM Plex Sans" pitchFamily="34" charset="0"/>
                <a:ea typeface="IBM Plex Sans" pitchFamily="34" charset="-122"/>
                <a:cs typeface="IBM Plex Sans" pitchFamily="34" charset="-120"/>
              </a:rPr>
              <a:t> Rehearse with Vi; record walkthrough + team video at 01:30; submit by 03:30; final check 04:30.</a:t>
            </a:r>
            <a:endParaRPr lang="en-US" sz="1200" dirty="0"/>
          </a:p>
        </p:txBody>
      </p:sp>
      <p:sp>
        <p:nvSpPr>
          <p:cNvPr id="6" name="Shape 4"/>
          <p:cNvSpPr/>
          <p:nvPr/>
        </p:nvSpPr>
        <p:spPr>
          <a:xfrm>
            <a:off x="7053765" y="1415312"/>
            <a:ext cx="4322268" cy="1788191"/>
          </a:xfrm>
          <a:prstGeom prst="roundRect">
            <a:avLst>
              <a:gd name="adj" fmla="val 4084"/>
            </a:avLst>
          </a:prstGeom>
          <a:solidFill>
            <a:srgbClr val="FDFDFB"/>
          </a:solidFill>
          <a:ln w="6350">
            <a:solidFill>
              <a:srgbClr val="DDE3DE"/>
            </a:solidFill>
            <a:prstDash val="solid"/>
          </a:ln>
        </p:spPr>
      </p:sp>
      <p:sp>
        <p:nvSpPr>
          <p:cNvPr id="7" name="Text 5"/>
          <p:cNvSpPr/>
          <p:nvPr/>
        </p:nvSpPr>
        <p:spPr>
          <a:xfrm>
            <a:off x="7208777" y="1544920"/>
            <a:ext cx="4132610" cy="223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02B"/>
                </a:solidFill>
                <a:latin typeface="IBM Plex Sans" pitchFamily="34" charset="0"/>
                <a:ea typeface="IBM Plex Sans" pitchFamily="34" charset="-122"/>
                <a:cs typeface="IBM Plex Sans" pitchFamily="34" charset="-120"/>
              </a:rPr>
              <a:t>Tools</a:t>
            </a:r>
            <a:endParaRPr lang="en-US" sz="1300" dirty="0"/>
          </a:p>
        </p:txBody>
      </p:sp>
      <p:sp>
        <p:nvSpPr>
          <p:cNvPr id="8" name="Text 6"/>
          <p:cNvSpPr/>
          <p:nvPr/>
        </p:nvSpPr>
        <p:spPr>
          <a:xfrm>
            <a:off x="7218683" y="1793816"/>
            <a:ext cx="4117751" cy="1305481"/>
          </a:xfrm>
          <a:prstGeom prst="rect">
            <a:avLst/>
          </a:prstGeom>
          <a:noFill/>
          <a:ln/>
        </p:spPr>
        <p:txBody>
          <a:bodyPr wrap="square" lIns="0" tIns="0" rIns="0" bIns="0" rtlCol="0" anchor="t">
            <a:normAutofit/>
          </a:bodyPr>
          <a:lstStyle/>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ChatGPT with web search + Google for the CSV; Google Sheets exported to /data/community.csv</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NIH RePORTER and ClinicalTrials.gov sites: search "cerebral visual impairment"</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Loom or QuickTime; the Hack-Nation submission form</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The brief's judging table as your checklist</a:t>
            </a:r>
            <a:endParaRPr lang="en-US" sz="1200" dirty="0"/>
          </a:p>
        </p:txBody>
      </p:sp>
      <p:sp>
        <p:nvSpPr>
          <p:cNvPr id="9" name="Shape 7"/>
          <p:cNvSpPr/>
          <p:nvPr/>
        </p:nvSpPr>
        <p:spPr>
          <a:xfrm>
            <a:off x="7053765" y="3311432"/>
            <a:ext cx="4322268" cy="1574844"/>
          </a:xfrm>
          <a:prstGeom prst="roundRect">
            <a:avLst>
              <a:gd name="adj" fmla="val 4637"/>
            </a:avLst>
          </a:prstGeom>
          <a:solidFill>
            <a:srgbClr val="FDFDFB"/>
          </a:solidFill>
          <a:ln w="6350">
            <a:solidFill>
              <a:srgbClr val="DDE3DE"/>
            </a:solidFill>
            <a:prstDash val="solid"/>
          </a:ln>
        </p:spPr>
      </p:sp>
      <p:sp>
        <p:nvSpPr>
          <p:cNvPr id="10" name="Text 8"/>
          <p:cNvSpPr/>
          <p:nvPr/>
        </p:nvSpPr>
        <p:spPr>
          <a:xfrm>
            <a:off x="7208777" y="3441040"/>
            <a:ext cx="4132610" cy="22353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02B"/>
                </a:solidFill>
                <a:latin typeface="IBM Plex Sans" pitchFamily="34" charset="0"/>
                <a:ea typeface="IBM Plex Sans" pitchFamily="34" charset="-122"/>
                <a:cs typeface="IBM Plex Sans" pitchFamily="34" charset="-120"/>
              </a:rPr>
              <a:t>Hints</a:t>
            </a:r>
            <a:endParaRPr lang="en-US" sz="1300" dirty="0"/>
          </a:p>
        </p:txBody>
      </p:sp>
      <p:sp>
        <p:nvSpPr>
          <p:cNvPr id="11" name="Text 9"/>
          <p:cNvSpPr/>
          <p:nvPr/>
        </p:nvSpPr>
        <p:spPr>
          <a:xfrm>
            <a:off x="7218683" y="3689936"/>
            <a:ext cx="4117751" cy="1092134"/>
          </a:xfrm>
          <a:prstGeom prst="rect">
            <a:avLst/>
          </a:prstGeom>
          <a:noFill/>
          <a:ln/>
        </p:spPr>
        <p:txBody>
          <a:bodyPr wrap="square" lIns="0" tIns="0" rIns="0" bIns="0" rtlCol="0" anchor="t">
            <a:normAutofit/>
          </a:bodyPr>
          <a:lstStyle/>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No URL, no row.</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Write for a parent at 2 a.m.; the brief says it.</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The honest-gap screen is a feature; show it in the video.</a:t>
            </a:r>
            <a:endParaRPr lang="en-US" sz="1200" dirty="0"/>
          </a:p>
          <a:p>
            <a:pPr algn="l" marL="155194" indent="-155194">
              <a:lnSpc>
                <a:spcPts val="1680"/>
              </a:lnSpc>
              <a:buSzPct val="100000"/>
              <a:buChar char="•"/>
            </a:pPr>
            <a:r>
              <a:rPr lang="en-US" sz="1200" dirty="0">
                <a:solidFill>
                  <a:srgbClr val="2B3844"/>
                </a:solidFill>
                <a:latin typeface="IBM Plex Sans" pitchFamily="34" charset="0"/>
                <a:ea typeface="IBM Plex Sans" pitchFamily="34" charset="-122"/>
                <a:cs typeface="IBM Plex Sans" pitchFamily="34" charset="-120"/>
              </a:rPr>
              <a:t>Your family story opens the video, 10 seconds, then the product.</a:t>
            </a:r>
            <a:endParaRPr lang="en-US" sz="1200" dirty="0"/>
          </a:p>
        </p:txBody>
      </p:sp>
      <p:sp>
        <p:nvSpPr>
          <p:cNvPr id="12" name="Text 10"/>
          <p:cNvSpPr/>
          <p:nvPr/>
        </p:nvSpPr>
        <p:spPr>
          <a:xfrm>
            <a:off x="812765" y="6238280"/>
            <a:ext cx="10883390" cy="238747"/>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76B7B"/>
                </a:solidFill>
                <a:latin typeface="IBM Plex Sans" pitchFamily="34" charset="0"/>
                <a:ea typeface="IBM Plex Sans" pitchFamily="34" charset="-122"/>
                <a:cs typeface="IBM Plex Sans" pitchFamily="34" charset="-120"/>
              </a:rPr>
              <a:t>Done when: CSV ingested; 20-edge QA numbers in README; 10x case written; both videos uploaded; submission confirmed before 4:45 AM PT.</a:t>
            </a:r>
            <a:endParaRPr lang="en-US" sz="1200" dirty="0"/>
          </a:p>
        </p:txBody>
      </p:sp>
    </p:spTree>
  </p:cSld>
  <p:clrMapOvr>
    <a:masterClrMapping/>
  </p:clrMapOvr>
</p:sld>
</file>

<file path=ppt/theme/theme1.xml><?xml version="1.0" encoding="utf-8"?>
<a:theme xmlns:a="http://schemas.openxmlformats.org/drawingml/2006/main" name="Rare Disease Atlas 16-Hour Plan">
  <a:themeElements>
    <a:clrScheme name="Rare Disease Atlas 16-Hour Plan">
      <a:dk1>
        <a:srgbClr val="2B3844"/>
      </a:dk1>
      <a:lt1>
        <a:srgbClr val="F6F7F4"/>
      </a:lt1>
      <a:dk2>
        <a:srgbClr val="5E6870"/>
      </a:dk2>
      <a:lt2>
        <a:srgbClr val="E2E4E2"/>
      </a:lt2>
      <a:accent1>
        <a:srgbClr val="F0A868"/>
      </a:accent1>
      <a:accent2>
        <a:srgbClr val="176B7B"/>
      </a:accent2>
      <a:accent3>
        <a:srgbClr val="A8520E"/>
      </a:accent3>
      <a:accent4>
        <a:srgbClr val="7FC4D0"/>
      </a:accent4>
      <a:accent5>
        <a:srgbClr val="14202B"/>
      </a:accent5>
      <a:accent6>
        <a:srgbClr val="BFD0DA"/>
      </a:accent6>
      <a:hlink>
        <a:srgbClr val="0563C1"/>
      </a:hlink>
      <a:folHlink>
        <a:srgbClr val="954F72"/>
      </a:folHlink>
    </a:clrScheme>
    <a:fontScheme name="Rare Disease Atlas 16-Hour Plan">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Rare Disease Atlas 16-Hour Plan</dc:title>
  <dc:subject/>
  <dc:creator/>
  <cp:lastModifiedBy/>
  <cp:revision>1</cp:revision>
  <dcterms:created xsi:type="dcterms:W3CDTF">2026-10-03T18:23:41Z</dcterms:created>
  <dcterms:modified xsi:type="dcterms:W3CDTF">2026-10-03T18:23:41Z</dcterms:modified>
</cp:coreProperties>
</file>