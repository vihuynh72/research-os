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CVI works for this brief: cortical or cerebral visual impairment is a phenotype, not a single gene, so the atlas is phenotype-first. HPO term HP:0100704 (synonyms: cortical visual impairment, cortical blindness) is annotated to 199 rare diseases in Monarch (sources HPO and Orphanet), most of them monogenic: developmental and epileptic encephalopathies, brain malformations, metabolic and mitochondrial disorders. The 199 is the catalog, not the build: in 16 hours Jaspaal builds 15 to 20 of them, chosen with Paul by 13:00 (CVI marked Frequent, a known causal gene, at least one patient group), and the README shows that scaling to all 199 is a config list change, not new code. The graph goes CVI to diseases to genes to pathways, and clusters by mechanism and shared phenotype profile. That is exactly the brief's line about organizing by mechanism and phenotype instead of by disease name. Say in the pitch that CVI itself is common and multi-cause; the atlas is for the communities whose CVI comes with a rare genetic diagnosis, or who are still looking for one. Personas, straight from the brief: Maria (patient organization leader; leans on clustering, pathway navigator, connector) is the primary user and the demo; Devon (newly diagnosed family; search engine) gets the plainest words and "find your community first"; Dr. Osei (researcher or clinician; connector) and Priya (biotech scout; clustering and search) get evidence tables, mechanism search, ranked clusters and export. The brief's own mock shows a "Viewing as: Maria, patient leader" control, so a Viewing-as switch with three modes (Leader, Family, Researcher) is the design: same graph, same search, same edges; the mode changes depth of detail and the words /api/explain uses, never the data. Maria's demo path, from the brief's "What good looks like": she types her disease, the atlas follows it to a disrupted pathway, another gene, a related disease and the patient group working on it, every edge explained and sourced; she finds an existing registry or study design and what needs expert review; she leaves with a sourced proposal for a partner, or a clear account of what is unknown and the next question to test. Paul's family experience with CVI gives the Family view its voice in the video. Platform decisions from Vi: build and deploy on Replit, GitHub main for everything, pipeline runs on Jaspaal's laptop and commits graph.json; Google Cloud is not needed in 16 hours (Cloud Run is the fallback only if a Replit deployment misbehaves). Submission checklist from the brief: deployed prototype, repo with README covering architecture and dataset reproduction, team video plus a 1-minute walkthrough. Hard cutoff set by the team: submit by 4:45 AM PT; the official deadline is 6:00 AM PT (9:00 AM ET), Oct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set from Vi's answers: start now (11:30 AM PT), team cutoff 4:45 AM PT, hard stop 6:00 AM PT. If you start later, shift every row by the same offset and cut Build 2 before you cut Polish. If one lane is behind at Merge 1, the other two stop features and unblock it. Ownership stays fixed: Jaspaal = pipeline, OpenAI extraction, clusters, explain API; Vi = app, design, the three Viewing-as modes, Replit deploy; Paul = community data, persona questions, evidence QA, 10x case, demo script, videos, submission. Build order for the views: Leader (Maria) first and complete, Researcher second, Family last because it is the Leader view with plainer words and the community card first; if time runs out, Family mode ships as a wording change only. Merge 1 is the real risk point: Vi must already run on the mock contract so the swap is a file replacement, not a rewrite. With everyone on main, the one rule that saves the night is pull before push and small commits; if a push is rejected, pull, resolve, push, never force. Freeze at 22:30 is non-negotiable; every hackathon loss story starts with a feature added at midnight.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15 to 20 and not 199: in 16 hours the bottleneck is not the fetch, it is checking that the edges are right and that every demo click lands on something real. The catalog call is cheap, so pull all 199 once (one paginated request) and store it; the build set is a list in config/diseases.json, and the README says that scaling is editing that list and re-running make graph. Selection rule with Paul by 13:00: CVI frequency Frequent or Very frequent in the Monarch association, at least one causal gene, at least one patient group or foundation Paul can find a URL for; prefer sets that span 2 or 3 mechanisms (for example synaptic or channel genes, a brain malformation gene, a metabolic or mitochondrial gene) so clustering has something to show. Sample calls. Catalog: GET https://api-v3.monarchinitiative.org/v3/api/association?object=HP:0100704&amp;category=biolink:DiseaseToPhenotypicFeatureAssociation&amp;limit=100&amp;offset=0 (199 total; keep the frequency field). Per disease: GET /v3/api/entity/MONDO:0034106 and GET /v3/api/association?subject=MONDO:0034106 for its genes (the gene-disease category listed in /v3/docs) and its full phenotype profile (DiseaseToPhenotypicFeatureAssociation). Genes come back as HGNC ids with symbols. Reactome: https://reactome.org/ContentService/search/query?query=CDKL5&amp;species=Homo sapiens&amp;types=Pathway. PubMed: esearch.fcgi?db=pubmed&amp;term=(CDKL5[Title/Abstract] AND (visual OR cortical OR encephalopathy))&amp;retmax=30 then efetch.fcgi?db=pubmed&amp;id=...&amp;rettype=abstract&amp;retmode=xml. ClinicalTrials: https://clinicaltrials.gov/api/v2/studies?query.cond=cerebral visual impairment&amp;pageSize=50, and once per gene. RePORTER: POST https://api.reporter.nih.gov/v2/projects/search with criteria.advanced_text_search.search_text = "cerebral visual impairment", limit 50; repeat per gene symbol. Similarity recipe: for each disease pair, jaccard(HPO term sets) + 1.0 if they share a Reactome pathway + 1.0 if they share a gene; keep pairs above a threshold you tune by eye; networkx.community.louvain_communities(G, weight="w"); nx.betweenness_centrality(G) for bridges. Cluster score for Priya's ranked view: number of sourced mechanism edges + number of patient groups + number of trials and registries, normalized 0 to 100. Mechanism nodes: Reactome pathway ids plus a hand-checked loss-of-function or gain-of-function tag per gene where the abstracts say so. Extraction prompt sketch: "From this abstract return claims as JSON. Only claims stated in the text. Subject and object are gene, disease, phenotype, variant or mechanism names exactly as written; include the exact evidence span." Use responses.parse with a strict schema; batch about 20 abstracts per call. Resolve: synonym dictionary from Monarch first, then text-embedding-3-small cosine above 0.9 accepted, 0.75 to 0.9 sent to gpt-6-luna with the top 5 candidates, below rejected and logged. Explain prompt takes an audience parameter: family = at most 5 short sentences, no jargon, community first; leader = at most 6 sentences, names the pathway, the asset and the partner; researcher = may use gene and pathway names, states observed vs inferred per sentence. All three: "Each sentence ends with [edge:ID]. If a sentence would need a fact not in the edges, do not write it. If no path exists, write exactly: No supported route, then list what was searched and what evidence would change the answer." Confirm exact model ids in the OpenAI dashboard; the names here follow the current pricing page. Store raw responses once; every refetch costs time you do not have. Write schema.json as JSON Schema so Vi generates TypeScript types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views, one data model. The Viewing-as control sits top right (the brief's own mock has "Viewing as: Maria, patient leader"); it is a state value, stored in the URL (?as=leader|family|researcher) so links keep their mode. Leader (default, the demo): search, the graph with one cluster on screen, a right panel with three cards that answer the brief's three questions (Who shares our biology: the cluster neighbors and the shared pathway; What exists: registries, trials, natural history studies, assessments with URLs; What next: the proposal from /api/next-step and the partner contact), and an evidence drawer per edge. Family (Devon): same panel, community card first, plainest words from /api/explain with audience=family, a "not sure of the diagnosis yet" entry that searches by symptom, and no IDs on screen. Researcher (Dr. Osei, Priya): evidence table for the selected node (edge, relation, source, date, confidence, kind, contradicting edges), mechanism and phenotype overlap for the cluster, investigators and grants (RePORTER), ranked cluster list using Jaspaal's cluster score, and Export JSON of the visible subgraph. Mock contract example: nodes = [{id: "MONDO:0034106", type: "Disease", label: "Developmental and epileptic encephalopathy 73", synonyms: [...]}], edges = [{id: "e1", from: "MONDO:0034106", to: "HP:0100704", rel: "has_phenotype", source: "HPO", url: "https://...", date: "2026-10-03", confidence: 0.9, kind: "observed"}], clusters = [{id: "c1", label: "Synaptic signaling", score: 72, members: [...], bridges: [...]}]. Generate the TypeScript types from Jaspaal's JSON Schema (json-schema-to-typescript) so the contract is enforced, not remembered. Replit setup: create the Repl from the GitHub repo, set OPENAI_API_KEY in Secrets, deploy with Autoscale; keep the dev URL for the team and the deployment URL for judges. Design direction (Apple-like): background #FFFFFF, text #1D1D1F, secondary #6E6E73, one accent #0071E3, 12px radius, 1px #E5E5EA borders, no drop shadows except on the floating panel, system font stack (-apple-system, SF Pro, Inter fallback), 28px titles and 17px body on desktop, 24px spacing. Graph: grey edges by default, cluster color only on nodes, labels for the selected node and neighbors, animate pan to the selected node, dashed edges for inferred or bridge, hover shows confidence as text. Responsive: desktop = graph left 60%, panel right 40%; mobile = graph full width, panel as a bottom sheet with a drag handle. Performance: with 15 to 20 diseases plus genes, pathways, phenotypes and papers the graph may still reach a few hundred nodes; render the active cluster plus bridges, hide papers until an edge is opened. OpenAI calls stay in route handlers (app/api/*) so the key never reaches the browser; Jaspaal writes the prompts, you own request and error handling. Demo rehearsal script: Maria types her disease, opens the cluster, clicks the edge to the neighbor disease, reads the evidence, opens the action view, copies the proposal; switch to Researcher for ten seconds to show the evidence table; then a search outside the slice shows the honest no-route screen. Preselect the demo node on first load so the judge's first click lands somewhere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questions, from the brief's table, written in plain words before anything is built: Maria (patient organization leader) asks who shares our biology not just our name, what registry, model or study already exists that we could reuse, and what we should do together next; she leans on clustering, pathway navigation and connections. Devon (newly diagnosed family) asks where is my exact community, and if there is none, what is the closest one and how do I help build the missing one. Priya (biotech scout) asks which clusters match my mechanism, ranked, with active patient groups and named contacts. Dr. Osei (researcher or clinician) asks who else works on my mechanism under other gene names and how to reach them. The demo is Maria's path from the brief's "What good looks like": disease to disrupted pathway to another gene to a related disease to the patient group working on it, every edge explained and sourced; then an existing registry or study design and what needs expert review; then a sourced proposal to a partner, or an honest account of what is unknown and the next question to test. Build set selection with Jaspaal: from the 199-disease catalog keep 15 to 20 where CVI is marked Frequent, a causal gene is known, and you can find at least one patient group or foundation URL; spread across 2 or 3 mechanisms so the clusters mean something. CSV columns: name, type (patient_group, registry, assessment, investigator, center, foundation), disease_or_gene (MONDO id or gene symbol if specific, else "CVI"), url, country, contact_url, notes. Starting points to verify: Pediatric Cortical Visual Impairment Society (pcvis.vision), Perkins School for the Blind CVI Center and CVI Now (perkins.org), CVI Scotland, Prevent Blindness CVI resources page, the NEI CVI workshop page, and the gene-specific foundations for the build set (many DEE genes have one). Every row needs a working URL; Jaspaal turns rows into PatientOrg and Asset nodes with kind = observed and source = the URL. QA method: Jaspaal gives you 10, then 20, random edge ids with their source URLs; open each, decide whether the page actually supports the relationship, mark true, false or unclear, and send the list back; the counts (for example 18 of 20 supported) go into the README under Evidence integrity. 10x case: pick one milestone the brief names, such as launching a shared natural history study or agreeing on a shared outcome measure; find one published timeline from a real foundation or study and cite it; then lay out the atlas route (reuse a cluster neighbor's protocol or assessment, pool registries, one shared submission) and the three assumptions that must be validated next. Fewer, clearer assumptions win; do not invent numbers. Video shape (60 seconds): 10 seconds of your family's experience in your own words, 40 seconds of Maria's path on screen with "observed" and "inferred" said out loud once, 10 seconds switching to the Researcher view and naming the next step. Team video: who you are, why CVI, what is real today and what is not. Submission: confirm the form's required fields early (repo link, deployment link, video links) so nothing is discovered at 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949895"/>
            <a:ext cx="10566443" cy="335259"/>
          </a:xfrm>
          <a:prstGeom prst="rect">
            <a:avLst/>
          </a:prstGeom>
          <a:noFill/>
          <a:ln/>
        </p:spPr>
        <p:txBody>
          <a:bodyPr wrap="square" lIns="0" tIns="0" rIns="0" bIns="0" rtlCol="0" anchor="t"/>
          <a:lstStyle>
            <a:lvl1pPr algn="l" indent="0" marL="0">
              <a:lnSpc>
                <a:spcPct val="115000"/>
              </a:lnSpc>
              <a:buNone/>
              <a:defRPr lang="en-US" sz="24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765" y="1589954"/>
            <a:ext cx="10566435" cy="4455246"/>
          </a:xfrm>
          <a:prstGeom prst="rect">
            <a:avLst/>
          </a:prstGeom>
          <a:noFill/>
          <a:ln/>
        </p:spPr>
        <p:txBody>
          <a:bodyPr wrap="square" lIns="0" tIns="0" rIns="0" bIns="0" rtlCol="0" anchor="t"/>
          <a:lstStyle>
            <a:lvl1pPr algn="l" indent="0" marL="0">
              <a:lnSpc>
                <a:spcPct val="140000"/>
              </a:lnSpc>
              <a:buNone/>
              <a:defRPr lang="en-US" sz="1600" dirty="0">
                <a:solidFill>
                  <a:srgbClr val="2B384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949895"/>
            <a:ext cx="10566443" cy="335259"/>
          </a:xfrm>
          <a:prstGeom prst="rect">
            <a:avLst/>
          </a:prstGeom>
          <a:noFill/>
          <a:ln/>
        </p:spPr>
        <p:txBody>
          <a:bodyPr wrap="square" lIns="0" tIns="0" rIns="0" bIns="0" rtlCol="0" anchor="t"/>
          <a:lstStyle>
            <a:lvl1pPr algn="l" indent="0" marL="0">
              <a:lnSpc>
                <a:spcPct val="115000"/>
              </a:lnSpc>
              <a:buNone/>
              <a:defRPr lang="en-US" sz="24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765" y="1589954"/>
            <a:ext cx="10566435" cy="4455246"/>
          </a:xfrm>
          <a:prstGeom prst="rect">
            <a:avLst/>
          </a:prstGeom>
          <a:noFill/>
          <a:ln/>
        </p:spPr>
        <p:txBody>
          <a:bodyPr wrap="square" lIns="0" tIns="0" rIns="0" bIns="0" rtlCol="0" anchor="t"/>
          <a:lstStyle>
            <a:lvl1pPr algn="l" indent="0" marL="0">
              <a:lnSpc>
                <a:spcPct val="140000"/>
              </a:lnSpc>
              <a:buNone/>
              <a:defRPr lang="en-US" sz="1600" dirty="0">
                <a:solidFill>
                  <a:srgbClr val="2B384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812765" y="71118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A868"/>
                </a:solidFill>
                <a:latin typeface="JetBrains Mono" pitchFamily="49" charset="0"/>
                <a:ea typeface="JetBrains Mono" pitchFamily="49" charset="-122"/>
                <a:cs typeface="JetBrains Mono" pitchFamily="49" charset="-120"/>
              </a:rPr>
              <a:t>HACK-NATION CHALLENGE 05 · OPENAI × BUFFALO INITIATIVE · VI, JASPAAL, PAUL · 16 HOURS · V2</a:t>
            </a:r>
            <a:endParaRPr lang="en-US" sz="1200" dirty="0"/>
          </a:p>
        </p:txBody>
      </p:sp>
      <p:sp>
        <p:nvSpPr>
          <p:cNvPr id="3" name="Text 1"/>
          <p:cNvSpPr/>
          <p:nvPr>
            <p:ph type="title"/>
          </p:nvPr>
        </p:nvSpPr>
        <p:spPr>
          <a:xfrm>
            <a:off x="812765" y="1102330"/>
            <a:ext cx="10883436" cy="863571"/>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7F4"/>
                </a:solidFill>
                <a:latin typeface="IBM Plex Sans" pitchFamily="34" charset="0"/>
                <a:ea typeface="IBM Plex Sans" pitchFamily="34" charset="-122"/>
                <a:cs typeface="IBM Plex Sans" pitchFamily="34" charset="-120"/>
              </a:rPr>
              <a:t>CVI Atlas: one search, one sourced path, one next step for Maria</a:t>
            </a:r>
            <a:endParaRPr lang="en-US" sz="3000" dirty="0"/>
          </a:p>
        </p:txBody>
      </p:sp>
      <p:sp>
        <p:nvSpPr>
          <p:cNvPr id="4" name="Shape 2"/>
          <p:cNvSpPr/>
          <p:nvPr/>
        </p:nvSpPr>
        <p:spPr>
          <a:xfrm>
            <a:off x="815940" y="2121472"/>
            <a:ext cx="3414174" cy="2344451"/>
          </a:xfrm>
          <a:prstGeom prst="roundRect">
            <a:avLst>
              <a:gd name="adj" fmla="val 3657"/>
            </a:avLst>
          </a:prstGeom>
          <a:solidFill>
            <a:srgbClr val="16304A"/>
          </a:solidFill>
          <a:ln w="6350">
            <a:solidFill>
              <a:srgbClr val="2A4A66"/>
            </a:solidFill>
            <a:prstDash val="solid"/>
          </a:ln>
        </p:spPr>
      </p:sp>
      <p:sp>
        <p:nvSpPr>
          <p:cNvPr id="5" name="Text 3"/>
          <p:cNvSpPr/>
          <p:nvPr/>
        </p:nvSpPr>
        <p:spPr>
          <a:xfrm>
            <a:off x="996358" y="2301891"/>
            <a:ext cx="3144937"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7F4"/>
                </a:solidFill>
                <a:latin typeface="IBM Plex Sans" pitchFamily="34" charset="0"/>
                <a:ea typeface="IBM Plex Sans" pitchFamily="34" charset="-122"/>
                <a:cs typeface="IBM Plex Sans" pitchFamily="34" charset="-120"/>
              </a:rPr>
              <a:t>The slice: CVI first</a:t>
            </a:r>
            <a:endParaRPr lang="en-US" sz="1400" dirty="0"/>
          </a:p>
        </p:txBody>
      </p:sp>
      <p:sp>
        <p:nvSpPr>
          <p:cNvPr id="6" name="Text 4"/>
          <p:cNvSpPr/>
          <p:nvPr/>
        </p:nvSpPr>
        <p:spPr>
          <a:xfrm>
            <a:off x="1018964" y="2578730"/>
            <a:ext cx="3116997" cy="1732175"/>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Anchor: HPO Cerebral visual impairment (HP:0100704)</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199 diseases carry it; we build 15 to 20 of them</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Pick: frequent CVI, a known gene, a patient group</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CVI itself is not one gene: say so in the pitch</a:t>
            </a:r>
            <a:endParaRPr lang="en-US" sz="1200" dirty="0"/>
          </a:p>
        </p:txBody>
      </p:sp>
      <p:sp>
        <p:nvSpPr>
          <p:cNvPr id="7" name="Shape 5"/>
          <p:cNvSpPr/>
          <p:nvPr/>
        </p:nvSpPr>
        <p:spPr>
          <a:xfrm>
            <a:off x="4388854" y="2121472"/>
            <a:ext cx="3414219" cy="2344451"/>
          </a:xfrm>
          <a:prstGeom prst="roundRect">
            <a:avLst>
              <a:gd name="adj" fmla="val 3657"/>
            </a:avLst>
          </a:prstGeom>
          <a:solidFill>
            <a:srgbClr val="16304A"/>
          </a:solidFill>
          <a:ln w="6350">
            <a:solidFill>
              <a:srgbClr val="2A4A66"/>
            </a:solidFill>
            <a:prstDash val="solid"/>
          </a:ln>
        </p:spPr>
      </p:sp>
      <p:sp>
        <p:nvSpPr>
          <p:cNvPr id="8" name="Text 6"/>
          <p:cNvSpPr/>
          <p:nvPr/>
        </p:nvSpPr>
        <p:spPr>
          <a:xfrm>
            <a:off x="4569273" y="2301891"/>
            <a:ext cx="314498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7F4"/>
                </a:solidFill>
                <a:latin typeface="IBM Plex Sans" pitchFamily="34" charset="0"/>
                <a:ea typeface="IBM Plex Sans" pitchFamily="34" charset="-122"/>
                <a:cs typeface="IBM Plex Sans" pitchFamily="34" charset="-120"/>
              </a:rPr>
              <a:t>Who uses it</a:t>
            </a:r>
            <a:endParaRPr lang="en-US" sz="1400" dirty="0"/>
          </a:p>
        </p:txBody>
      </p:sp>
      <p:sp>
        <p:nvSpPr>
          <p:cNvPr id="9" name="Text 7"/>
          <p:cNvSpPr/>
          <p:nvPr/>
        </p:nvSpPr>
        <p:spPr>
          <a:xfrm>
            <a:off x="4591879" y="2578730"/>
            <a:ext cx="3117044" cy="1732175"/>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Maria, patient group leader: default view and the demo</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Devon, new family: plainest words, find your community</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Dr. Osei, Priya: evidence tables, mechanism search, export</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One graph, one search; Viewing as changes depth, not data</a:t>
            </a:r>
            <a:endParaRPr lang="en-US" sz="1200" dirty="0"/>
          </a:p>
        </p:txBody>
      </p:sp>
      <p:sp>
        <p:nvSpPr>
          <p:cNvPr id="10" name="Shape 8"/>
          <p:cNvSpPr/>
          <p:nvPr/>
        </p:nvSpPr>
        <p:spPr>
          <a:xfrm>
            <a:off x="7961814" y="2121472"/>
            <a:ext cx="3414219" cy="2344451"/>
          </a:xfrm>
          <a:prstGeom prst="roundRect">
            <a:avLst>
              <a:gd name="adj" fmla="val 3657"/>
            </a:avLst>
          </a:prstGeom>
          <a:solidFill>
            <a:srgbClr val="16304A"/>
          </a:solidFill>
          <a:ln w="6350">
            <a:solidFill>
              <a:srgbClr val="2A4A66"/>
            </a:solidFill>
            <a:prstDash val="solid"/>
          </a:ln>
        </p:spPr>
      </p:sp>
      <p:sp>
        <p:nvSpPr>
          <p:cNvPr id="11" name="Text 9"/>
          <p:cNvSpPr/>
          <p:nvPr/>
        </p:nvSpPr>
        <p:spPr>
          <a:xfrm>
            <a:off x="8142232" y="2301891"/>
            <a:ext cx="314498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7F4"/>
                </a:solidFill>
                <a:latin typeface="IBM Plex Sans" pitchFamily="34" charset="0"/>
                <a:ea typeface="IBM Plex Sans" pitchFamily="34" charset="-122"/>
                <a:cs typeface="IBM Plex Sans" pitchFamily="34" charset="-120"/>
              </a:rPr>
              <a:t>Judging map</a:t>
            </a:r>
            <a:endParaRPr lang="en-US" sz="1400" dirty="0"/>
          </a:p>
        </p:txBody>
      </p:sp>
      <p:sp>
        <p:nvSpPr>
          <p:cNvPr id="12" name="Text 10"/>
          <p:cNvSpPr/>
          <p:nvPr/>
        </p:nvSpPr>
        <p:spPr>
          <a:xfrm>
            <a:off x="8164838" y="2578730"/>
            <a:ext cx="3117044" cy="1732175"/>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Graph quality: typed edges, Louvain clusters, bridge nodes</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Evidence: source, date, confidence, observed vs inferred</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Patient progress: the action view</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10x: shared study timeline</a:t>
            </a:r>
            <a:endParaRPr lang="en-US" sz="1200" dirty="0"/>
          </a:p>
          <a:p>
            <a:pPr algn="l" marL="155194" indent="-155194">
              <a:lnSpc>
                <a:spcPts val="1680"/>
              </a:lnSpc>
              <a:buSzPct val="100000"/>
              <a:buChar char="•"/>
            </a:pPr>
            <a:r>
              <a:rPr lang="en-US" sz="1200" dirty="0">
                <a:solidFill>
                  <a:srgbClr val="BFD0DA"/>
                </a:solidFill>
                <a:latin typeface="IBM Plex Sans" pitchFamily="34" charset="0"/>
                <a:ea typeface="IBM Plex Sans" pitchFamily="34" charset="-122"/>
                <a:cs typeface="IBM Plex Sans" pitchFamily="34" charset="-120"/>
              </a:rPr>
              <a:t>Craft: clean, Apple-like, one search, reveal by persona</a:t>
            </a:r>
            <a:endParaRPr lang="en-US" sz="1200" dirty="0"/>
          </a:p>
        </p:txBody>
      </p:sp>
      <p:sp>
        <p:nvSpPr>
          <p:cNvPr id="13" name="Text 11"/>
          <p:cNvSpPr/>
          <p:nvPr/>
        </p:nvSpPr>
        <p:spPr>
          <a:xfrm>
            <a:off x="812765" y="4646894"/>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FC4D0"/>
                </a:solidFill>
                <a:latin typeface="JetBrains Mono" pitchFamily="49" charset="0"/>
                <a:ea typeface="JetBrains Mono" pitchFamily="49" charset="-122"/>
                <a:cs typeface="JetBrains Mono" pitchFamily="49" charset="-120"/>
              </a:rPr>
              <a:t>ARCHITECTURE · PAUL OWNS COMMUNITY DATA, EVIDENCE QA, DEMO, VIDEO, SUBMISSION</a:t>
            </a:r>
            <a:endParaRPr lang="en-US" sz="1200" dirty="0"/>
          </a:p>
        </p:txBody>
      </p:sp>
      <p:sp>
        <p:nvSpPr>
          <p:cNvPr id="14" name="Shape 12"/>
          <p:cNvSpPr/>
          <p:nvPr/>
        </p:nvSpPr>
        <p:spPr>
          <a:xfrm>
            <a:off x="815940" y="5038632"/>
            <a:ext cx="1802185" cy="645193"/>
          </a:xfrm>
          <a:prstGeom prst="roundRect">
            <a:avLst>
              <a:gd name="adj" fmla="val 9350"/>
            </a:avLst>
          </a:prstGeom>
          <a:noFill/>
          <a:ln w="6350">
            <a:solidFill>
              <a:srgbClr val="3C6A86"/>
            </a:solidFill>
            <a:prstDash val="solid"/>
          </a:ln>
        </p:spPr>
      </p:sp>
      <p:sp>
        <p:nvSpPr>
          <p:cNvPr id="15" name="Text 13"/>
          <p:cNvSpPr/>
          <p:nvPr/>
        </p:nvSpPr>
        <p:spPr>
          <a:xfrm>
            <a:off x="945546" y="5142832"/>
            <a:ext cx="1593772" cy="2234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7F4"/>
                </a:solidFill>
                <a:latin typeface="IBM Plex Sans" pitchFamily="34" charset="0"/>
                <a:ea typeface="IBM Plex Sans" pitchFamily="34" charset="-122"/>
                <a:cs typeface="IBM Plex Sans" pitchFamily="34" charset="-120"/>
              </a:rPr>
              <a:t>Fetch public APIs</a:t>
            </a:r>
            <a:endParaRPr lang="en-US" sz="1200" dirty="0"/>
          </a:p>
        </p:txBody>
      </p:sp>
      <p:sp>
        <p:nvSpPr>
          <p:cNvPr id="16" name="Text 14"/>
          <p:cNvSpPr/>
          <p:nvPr/>
        </p:nvSpPr>
        <p:spPr>
          <a:xfrm>
            <a:off x="945546" y="5366277"/>
            <a:ext cx="1593772"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868"/>
                </a:solidFill>
                <a:latin typeface="JetBrains Mono" pitchFamily="49" charset="0"/>
                <a:ea typeface="JetBrains Mono" pitchFamily="49" charset="-122"/>
                <a:cs typeface="JetBrains Mono" pitchFamily="49" charset="-120"/>
              </a:rPr>
              <a:t>Jaspaal</a:t>
            </a:r>
            <a:endParaRPr lang="en-US" sz="1200" dirty="0"/>
          </a:p>
        </p:txBody>
      </p:sp>
      <p:pic>
        <p:nvPicPr>
          <p:cNvPr id="17" name="Image 0" descr="arrow-right">    </p:cNvPr>
          <p:cNvPicPr>
            <a:picLocks noChangeAspect="1"/>
          </p:cNvPicPr>
          <p:nvPr/>
        </p:nvPicPr>
        <p:blipFill>
          <a:blip r:embed="rId1"/>
          <a:srcRect l="-10" r="-10" t="0" b="0"/>
          <a:stretch/>
        </p:blipFill>
        <p:spPr>
          <a:xfrm>
            <a:off x="2697472" y="5304099"/>
            <a:ext cx="228563" cy="114259"/>
          </a:xfrm>
          <a:prstGeom prst="rect">
            <a:avLst/>
          </a:prstGeom>
        </p:spPr>
      </p:pic>
      <p:sp>
        <p:nvSpPr>
          <p:cNvPr id="18" name="Shape 15"/>
          <p:cNvSpPr/>
          <p:nvPr/>
        </p:nvSpPr>
        <p:spPr>
          <a:xfrm>
            <a:off x="3005383" y="4939589"/>
            <a:ext cx="1802230" cy="843279"/>
          </a:xfrm>
          <a:prstGeom prst="roundRect">
            <a:avLst>
              <a:gd name="adj" fmla="val 7154"/>
            </a:avLst>
          </a:prstGeom>
          <a:noFill/>
          <a:ln w="6350">
            <a:solidFill>
              <a:srgbClr val="3C6A86"/>
            </a:solidFill>
            <a:prstDash val="solid"/>
          </a:ln>
        </p:spPr>
      </p:sp>
      <p:sp>
        <p:nvSpPr>
          <p:cNvPr id="19" name="Text 16"/>
          <p:cNvSpPr/>
          <p:nvPr/>
        </p:nvSpPr>
        <p:spPr>
          <a:xfrm>
            <a:off x="3134989" y="5043789"/>
            <a:ext cx="1593817"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7F4"/>
                </a:solidFill>
                <a:latin typeface="IBM Plex Sans" pitchFamily="34" charset="0"/>
                <a:ea typeface="IBM Plex Sans" pitchFamily="34" charset="-122"/>
                <a:cs typeface="IBM Plex Sans" pitchFamily="34" charset="-120"/>
              </a:rPr>
              <a:t>OpenAI extract + reconcile</a:t>
            </a:r>
            <a:endParaRPr lang="en-US" sz="1200" dirty="0"/>
          </a:p>
        </p:txBody>
      </p:sp>
      <p:sp>
        <p:nvSpPr>
          <p:cNvPr id="20" name="Text 17"/>
          <p:cNvSpPr/>
          <p:nvPr/>
        </p:nvSpPr>
        <p:spPr>
          <a:xfrm>
            <a:off x="3134989" y="5465320"/>
            <a:ext cx="1593817"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868"/>
                </a:solidFill>
                <a:latin typeface="JetBrains Mono" pitchFamily="49" charset="0"/>
                <a:ea typeface="JetBrains Mono" pitchFamily="49" charset="-122"/>
                <a:cs typeface="JetBrains Mono" pitchFamily="49" charset="-120"/>
              </a:rPr>
              <a:t>Jaspaal</a:t>
            </a:r>
            <a:endParaRPr lang="en-US" sz="1200" dirty="0"/>
          </a:p>
        </p:txBody>
      </p:sp>
      <p:pic>
        <p:nvPicPr>
          <p:cNvPr id="21" name="Image 1" descr="arrow-right">    </p:cNvPr>
          <p:cNvPicPr>
            <a:picLocks noChangeAspect="1"/>
          </p:cNvPicPr>
          <p:nvPr/>
        </p:nvPicPr>
        <p:blipFill>
          <a:blip r:embed="rId2"/>
          <a:srcRect l="-10" r="-10" t="0" b="0"/>
          <a:stretch/>
        </p:blipFill>
        <p:spPr>
          <a:xfrm>
            <a:off x="4886961" y="5304099"/>
            <a:ext cx="228563" cy="114259"/>
          </a:xfrm>
          <a:prstGeom prst="rect">
            <a:avLst/>
          </a:prstGeom>
        </p:spPr>
      </p:pic>
      <p:sp>
        <p:nvSpPr>
          <p:cNvPr id="22" name="Shape 18"/>
          <p:cNvSpPr/>
          <p:nvPr/>
        </p:nvSpPr>
        <p:spPr>
          <a:xfrm>
            <a:off x="5194871" y="4939589"/>
            <a:ext cx="1802185" cy="843279"/>
          </a:xfrm>
          <a:prstGeom prst="roundRect">
            <a:avLst>
              <a:gd name="adj" fmla="val 7154"/>
            </a:avLst>
          </a:prstGeom>
          <a:noFill/>
          <a:ln w="6350">
            <a:solidFill>
              <a:srgbClr val="3C6A86"/>
            </a:solidFill>
            <a:prstDash val="solid"/>
          </a:ln>
        </p:spPr>
      </p:sp>
      <p:sp>
        <p:nvSpPr>
          <p:cNvPr id="23" name="Text 19"/>
          <p:cNvSpPr/>
          <p:nvPr/>
        </p:nvSpPr>
        <p:spPr>
          <a:xfrm>
            <a:off x="5324478" y="5043789"/>
            <a:ext cx="1593772"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7F4"/>
                </a:solidFill>
                <a:latin typeface="IBM Plex Sans" pitchFamily="34" charset="0"/>
                <a:ea typeface="IBM Plex Sans" pitchFamily="34" charset="-122"/>
                <a:cs typeface="IBM Plex Sans" pitchFamily="34" charset="-120"/>
              </a:rPr>
              <a:t>graph.json + clusters.json</a:t>
            </a:r>
            <a:endParaRPr lang="en-US" sz="1200" dirty="0"/>
          </a:p>
        </p:txBody>
      </p:sp>
      <p:sp>
        <p:nvSpPr>
          <p:cNvPr id="24" name="Text 20"/>
          <p:cNvSpPr/>
          <p:nvPr/>
        </p:nvSpPr>
        <p:spPr>
          <a:xfrm>
            <a:off x="5324478" y="5465320"/>
            <a:ext cx="1593772"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868"/>
                </a:solidFill>
                <a:latin typeface="JetBrains Mono" pitchFamily="49" charset="0"/>
                <a:ea typeface="JetBrains Mono" pitchFamily="49" charset="-122"/>
                <a:cs typeface="JetBrains Mono" pitchFamily="49" charset="-120"/>
              </a:rPr>
              <a:t>Jaspaal</a:t>
            </a:r>
            <a:endParaRPr lang="en-US" sz="1200" dirty="0"/>
          </a:p>
        </p:txBody>
      </p:sp>
      <p:pic>
        <p:nvPicPr>
          <p:cNvPr id="25" name="Image 2" descr="arrow-right">    </p:cNvPr>
          <p:cNvPicPr>
            <a:picLocks noChangeAspect="1"/>
          </p:cNvPicPr>
          <p:nvPr/>
        </p:nvPicPr>
        <p:blipFill>
          <a:blip r:embed="rId3"/>
          <a:srcRect l="-10" r="-10" t="0" b="0"/>
          <a:stretch/>
        </p:blipFill>
        <p:spPr>
          <a:xfrm>
            <a:off x="7076404" y="5304099"/>
            <a:ext cx="228563" cy="114259"/>
          </a:xfrm>
          <a:prstGeom prst="rect">
            <a:avLst/>
          </a:prstGeom>
        </p:spPr>
      </p:pic>
      <p:sp>
        <p:nvSpPr>
          <p:cNvPr id="26" name="Shape 21"/>
          <p:cNvSpPr/>
          <p:nvPr/>
        </p:nvSpPr>
        <p:spPr>
          <a:xfrm>
            <a:off x="7384314" y="5038632"/>
            <a:ext cx="1802230" cy="645193"/>
          </a:xfrm>
          <a:prstGeom prst="roundRect">
            <a:avLst>
              <a:gd name="adj" fmla="val 9350"/>
            </a:avLst>
          </a:prstGeom>
          <a:noFill/>
          <a:ln w="6350">
            <a:solidFill>
              <a:srgbClr val="3C6A86"/>
            </a:solidFill>
            <a:prstDash val="solid"/>
          </a:ln>
        </p:spPr>
      </p:sp>
      <p:sp>
        <p:nvSpPr>
          <p:cNvPr id="27" name="Text 22"/>
          <p:cNvSpPr/>
          <p:nvPr/>
        </p:nvSpPr>
        <p:spPr>
          <a:xfrm>
            <a:off x="7513921" y="5142832"/>
            <a:ext cx="1593817" cy="2234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7F4"/>
                </a:solidFill>
                <a:latin typeface="IBM Plex Sans" pitchFamily="34" charset="0"/>
                <a:ea typeface="IBM Plex Sans" pitchFamily="34" charset="-122"/>
                <a:cs typeface="IBM Plex Sans" pitchFamily="34" charset="-120"/>
              </a:rPr>
              <a:t>Next.js app on Replit</a:t>
            </a:r>
            <a:endParaRPr lang="en-US" sz="1200" dirty="0"/>
          </a:p>
        </p:txBody>
      </p:sp>
      <p:sp>
        <p:nvSpPr>
          <p:cNvPr id="28" name="Text 23"/>
          <p:cNvSpPr/>
          <p:nvPr/>
        </p:nvSpPr>
        <p:spPr>
          <a:xfrm>
            <a:off x="7513921" y="5366277"/>
            <a:ext cx="1593817"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868"/>
                </a:solidFill>
                <a:latin typeface="JetBrains Mono" pitchFamily="49" charset="0"/>
                <a:ea typeface="JetBrains Mono" pitchFamily="49" charset="-122"/>
                <a:cs typeface="JetBrains Mono" pitchFamily="49" charset="-120"/>
              </a:rPr>
              <a:t>Vi</a:t>
            </a:r>
            <a:endParaRPr lang="en-US" sz="1200" dirty="0"/>
          </a:p>
        </p:txBody>
      </p:sp>
      <p:pic>
        <p:nvPicPr>
          <p:cNvPr id="29" name="Image 3" descr="arrow-right">    </p:cNvPr>
          <p:cNvPicPr>
            <a:picLocks noChangeAspect="1"/>
          </p:cNvPicPr>
          <p:nvPr/>
        </p:nvPicPr>
        <p:blipFill>
          <a:blip r:embed="rId4"/>
          <a:srcRect l="-10" r="-10" t="0" b="0"/>
          <a:stretch/>
        </p:blipFill>
        <p:spPr>
          <a:xfrm>
            <a:off x="9265892" y="5304099"/>
            <a:ext cx="228563" cy="114259"/>
          </a:xfrm>
          <a:prstGeom prst="rect">
            <a:avLst/>
          </a:prstGeom>
        </p:spPr>
      </p:pic>
      <p:sp>
        <p:nvSpPr>
          <p:cNvPr id="30" name="Shape 24"/>
          <p:cNvSpPr/>
          <p:nvPr/>
        </p:nvSpPr>
        <p:spPr>
          <a:xfrm>
            <a:off x="9573803" y="4939589"/>
            <a:ext cx="1802230" cy="843279"/>
          </a:xfrm>
          <a:prstGeom prst="roundRect">
            <a:avLst>
              <a:gd name="adj" fmla="val 7154"/>
            </a:avLst>
          </a:prstGeom>
          <a:noFill/>
          <a:ln w="6350">
            <a:solidFill>
              <a:srgbClr val="3C6A86"/>
            </a:solidFill>
            <a:prstDash val="solid"/>
          </a:ln>
        </p:spPr>
      </p:sp>
      <p:sp>
        <p:nvSpPr>
          <p:cNvPr id="31" name="Text 25"/>
          <p:cNvSpPr/>
          <p:nvPr/>
        </p:nvSpPr>
        <p:spPr>
          <a:xfrm>
            <a:off x="9703409" y="5043789"/>
            <a:ext cx="1593817"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7F4"/>
                </a:solidFill>
                <a:latin typeface="IBM Plex Sans" pitchFamily="34" charset="0"/>
                <a:ea typeface="IBM Plex Sans" pitchFamily="34" charset="-122"/>
                <a:cs typeface="IBM Plex Sans" pitchFamily="34" charset="-120"/>
              </a:rPr>
              <a:t>OpenAI explain + next step</a:t>
            </a:r>
            <a:endParaRPr lang="en-US" sz="1200" dirty="0"/>
          </a:p>
        </p:txBody>
      </p:sp>
      <p:sp>
        <p:nvSpPr>
          <p:cNvPr id="32" name="Text 26"/>
          <p:cNvSpPr/>
          <p:nvPr/>
        </p:nvSpPr>
        <p:spPr>
          <a:xfrm>
            <a:off x="9703409" y="5465320"/>
            <a:ext cx="1593817"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868"/>
                </a:solidFill>
                <a:latin typeface="JetBrains Mono" pitchFamily="49" charset="0"/>
                <a:ea typeface="JetBrains Mono" pitchFamily="49" charset="-122"/>
                <a:cs typeface="JetBrains Mono" pitchFamily="49" charset="-120"/>
              </a:rPr>
              <a:t>Jaspaal + Vi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765" y="711186"/>
            <a:ext cx="11379235"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8520E"/>
                </a:solidFill>
                <a:latin typeface="JetBrains Mono" pitchFamily="49" charset="0"/>
                <a:ea typeface="JetBrains Mono" pitchFamily="49" charset="-122"/>
                <a:cs typeface="JetBrains Mono" pitchFamily="49" charset="-120"/>
              </a:rPr>
              <a:t>TIMELINE · H0 = 11:30 AM PT, OCT 3 · SUBMIT BY 4:45 AM PT · OFFICIAL DEADLINE 6:00 AM PT (9:00 AM ET), OCT 4</a:t>
            </a:r>
            <a:endParaRPr lang="en-US" sz="1200" dirty="0"/>
          </a:p>
        </p:txBody>
      </p:sp>
      <p:sp>
        <p:nvSpPr>
          <p:cNvPr id="3" name="Text 1"/>
          <p:cNvSpPr/>
          <p:nvPr>
            <p:ph type="title"/>
          </p:nvPr>
        </p:nvSpPr>
        <p:spPr>
          <a:xfrm>
            <a:off x="812765" y="1076924"/>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2B"/>
                </a:solidFill>
                <a:latin typeface="IBM Plex Sans" pitchFamily="34" charset="0"/>
                <a:ea typeface="IBM Plex Sans" pitchFamily="34" charset="-122"/>
                <a:cs typeface="IBM Plex Sans" pitchFamily="34" charset="-120"/>
              </a:rPr>
              <a:t>16 hours, three lanes, two merges</a:t>
            </a:r>
            <a:endParaRPr lang="en-US" sz="2800" dirty="0"/>
          </a:p>
        </p:txBody>
      </p:sp>
      <p:sp>
        <p:nvSpPr>
          <p:cNvPr id="4" name="Shape 2"/>
          <p:cNvSpPr/>
          <p:nvPr/>
        </p:nvSpPr>
        <p:spPr>
          <a:xfrm>
            <a:off x="11376033" y="1620458"/>
            <a:ext cx="0" cy="3641343"/>
          </a:xfrm>
          <a:prstGeom prst="line">
            <a:avLst/>
          </a:prstGeom>
          <a:noFill/>
          <a:ln w="6350">
            <a:solidFill>
              <a:srgbClr val="DDE3DE"/>
            </a:solidFill>
            <a:prstDash val="solid"/>
          </a:ln>
        </p:spPr>
      </p:sp>
      <p:sp>
        <p:nvSpPr>
          <p:cNvPr id="5" name="Shape 3"/>
          <p:cNvSpPr/>
          <p:nvPr/>
        </p:nvSpPr>
        <p:spPr>
          <a:xfrm>
            <a:off x="812765" y="5258626"/>
            <a:ext cx="10566443" cy="0"/>
          </a:xfrm>
          <a:prstGeom prst="line">
            <a:avLst/>
          </a:prstGeom>
          <a:noFill/>
          <a:ln w="6350">
            <a:solidFill>
              <a:srgbClr val="DDE3DE"/>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358" y="1632051"/>
          <a:ext cx="10549052" cy="3623953"/>
        </p:xfrm>
        <a:graphic>
          <a:graphicData uri="http://schemas.openxmlformats.org/drawingml/2006/table">
            <a:tbl>
              <a:tblPr/>
              <a:tblGrid>
                <a:gridCol w="1265886"/>
                <a:gridCol w="1371377"/>
                <a:gridCol w="6329431"/>
                <a:gridCol w="1582358"/>
              </a:tblGrid>
              <a:tr h="331546">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Time (PT)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BDC0B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DC0BC"/>
                      </a:solidFill>
                      <a:prstDash val="solid"/>
                      <a:round/>
                      <a:headEnd type="none" w="med" len="med"/>
                      <a:tailEnd type="none" w="med" len="med"/>
                    </a:lnB>
                    <a:solidFill>
                      <a:srgbClr val="EDF1EC"/>
                    </a:solidFill>
                  </a:tcPr>
                </a:tc>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Block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0BC"/>
                      </a:solidFill>
                      <a:prstDash val="solid"/>
                      <a:round/>
                      <a:headEnd type="none" w="med" len="med"/>
                      <a:tailEnd type="none" w="med" len="med"/>
                    </a:lnL>
                    <a:lnR w="12700" cap="flat" cmpd="sng" algn="ctr">
                      <a:solidFill>
                        <a:srgbClr val="BDC0B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DC0BC"/>
                      </a:solidFill>
                      <a:prstDash val="solid"/>
                      <a:round/>
                      <a:headEnd type="none" w="med" len="med"/>
                      <a:tailEnd type="none" w="med" len="med"/>
                    </a:lnB>
                    <a:solidFill>
                      <a:srgbClr val="EDF1EC"/>
                    </a:solidFill>
                  </a:tcPr>
                </a:tc>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Must be true at the 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0BC"/>
                      </a:solidFill>
                      <a:prstDash val="solid"/>
                      <a:round/>
                      <a:headEnd type="none" w="med" len="med"/>
                      <a:tailEnd type="none" w="med" len="med"/>
                    </a:lnL>
                    <a:lnR w="12700" cap="flat" cmpd="sng" algn="ctr">
                      <a:solidFill>
                        <a:srgbClr val="BDC0B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DC0BC"/>
                      </a:solidFill>
                      <a:prstDash val="solid"/>
                      <a:round/>
                      <a:headEnd type="none" w="med" len="med"/>
                      <a:tailEnd type="none" w="med" len="med"/>
                    </a:lnB>
                    <a:solidFill>
                      <a:srgbClr val="EDF1EC"/>
                    </a:solidFill>
                  </a:tcPr>
                </a:tc>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0BC"/>
                      </a:solidFill>
                      <a:prstDash val="solid"/>
                      <a:round/>
                      <a:headEnd type="none" w="med" len="med"/>
                      <a:tailEnd type="none" w="med" len="med"/>
                    </a:lnL>
                    <a:lnR w="12700" cap="flat" cmpd="sng" algn="ctr">
                      <a:solidFill>
                        <a:srgbClr val="BDC0B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DC0BC"/>
                      </a:solidFill>
                      <a:prstDash val="solid"/>
                      <a:round/>
                      <a:headEnd type="none" w="med" len="med"/>
                      <a:tailEnd type="none" w="med" len="med"/>
                    </a:lnB>
                    <a:solidFill>
                      <a:srgbClr val="EDF1EC"/>
                    </a:solidFill>
                  </a:tcPr>
                </a:tc>
              </a:tr>
              <a:tr h="544893">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11:30-12:30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DC0BC"/>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Kickoff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DC0BC"/>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schema.json committed, mock graph in the app, Replit deployment live, 199-disease catalog pulled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DC0BC"/>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All three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DC0BC"/>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44893">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12:30-17:30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Build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Jaspaal: 15 to 20 CVI diseases, genes, phenotypes cached · Vi: search, Viewing-as switch, graph canvas on mock · Paul: build set + CSV + persona 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Each lane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1546">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17:30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B6C0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C0C1"/>
                      </a:solidFill>
                      <a:prstDash val="solid"/>
                      <a:round/>
                      <a:headEnd type="none" w="med" len="med"/>
                      <a:tailEnd type="none" w="med" len="med"/>
                    </a:lnB>
                    <a:solidFill>
                      <a:srgbClr val="E4F0F2"/>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Merge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C0C1"/>
                      </a:solidFill>
                      <a:prstDash val="solid"/>
                      <a:round/>
                      <a:headEnd type="none" w="med" len="med"/>
                      <a:tailEnd type="none" w="med" len="med"/>
                    </a:lnL>
                    <a:lnR w="12700" cap="flat" cmpd="sng" algn="ctr">
                      <a:solidFill>
                        <a:srgbClr val="B6C0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C0C1"/>
                      </a:solidFill>
                      <a:prstDash val="solid"/>
                      <a:round/>
                      <a:headEnd type="none" w="med" len="med"/>
                      <a:tailEnd type="none" w="med" len="med"/>
                    </a:lnB>
                    <a:solidFill>
                      <a:srgbClr val="E4F0F2"/>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Real graph in the app, Maria's path clicks end to end, ugly is fine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C0C1"/>
                      </a:solidFill>
                      <a:prstDash val="solid"/>
                      <a:round/>
                      <a:headEnd type="none" w="med" len="med"/>
                      <a:tailEnd type="none" w="med" len="med"/>
                    </a:lnL>
                    <a:lnR w="12700" cap="flat" cmpd="sng" algn="ctr">
                      <a:solidFill>
                        <a:srgbClr val="B6C0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C0C1"/>
                      </a:solidFill>
                      <a:prstDash val="solid"/>
                      <a:round/>
                      <a:headEnd type="none" w="med" len="med"/>
                      <a:tailEnd type="none" w="med" len="med"/>
                    </a:lnB>
                    <a:solidFill>
                      <a:srgbClr val="E4F0F2"/>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All three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C0C1"/>
                      </a:solidFill>
                      <a:prstDash val="solid"/>
                      <a:round/>
                      <a:headEnd type="none" w="med" len="med"/>
                      <a:tailEnd type="none" w="med" len="med"/>
                    </a:lnL>
                    <a:lnR w="12700" cap="flat" cmpd="sng" algn="ctr">
                      <a:solidFill>
                        <a:srgbClr val="B6C0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C0C1"/>
                      </a:solidFill>
                      <a:prstDash val="solid"/>
                      <a:round/>
                      <a:headEnd type="none" w="med" len="med"/>
                      <a:tailEnd type="none" w="med" len="med"/>
                    </a:lnB>
                    <a:solidFill>
                      <a:srgbClr val="E4F0F2"/>
                    </a:solidFill>
                  </a:tcPr>
                </a:tc>
              </a:tr>
              <a:tr h="544893">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17:30-22:30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C0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Build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C0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Jaspaal: extraction, clusters, explain API · Vi: Leader view, evidence panel, action view, Researcher view · Paul: 10x case, QA 1, demo script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C0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Each lane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C0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1546">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22:30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7BAAF"/>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7BAAF"/>
                      </a:solidFill>
                      <a:prstDash val="solid"/>
                      <a:round/>
                      <a:headEnd type="none" w="med" len="med"/>
                      <a:tailEnd type="none" w="med" len="med"/>
                    </a:lnB>
                    <a:solidFill>
                      <a:srgbClr val="F9E9DB"/>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Merge 2 + freeze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AAF"/>
                      </a:solidFill>
                      <a:prstDash val="solid"/>
                      <a:round/>
                      <a:headEnd type="none" w="med" len="med"/>
                      <a:tailEnd type="none" w="med" len="med"/>
                    </a:lnL>
                    <a:lnR w="12700" cap="flat" cmpd="sng" algn="ctr">
                      <a:solidFill>
                        <a:srgbClr val="C7BAAF"/>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7BAAF"/>
                      </a:solidFill>
                      <a:prstDash val="solid"/>
                      <a:round/>
                      <a:headEnd type="none" w="med" len="med"/>
                      <a:tailEnd type="none" w="med" len="med"/>
                    </a:lnB>
                    <a:solidFill>
                      <a:srgbClr val="F9E9DB"/>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Deployed on Replit. No new features after this, only fixes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AAF"/>
                      </a:solidFill>
                      <a:prstDash val="solid"/>
                      <a:round/>
                      <a:headEnd type="none" w="med" len="med"/>
                      <a:tailEnd type="none" w="med" len="med"/>
                    </a:lnL>
                    <a:lnR w="12700" cap="flat" cmpd="sng" algn="ctr">
                      <a:solidFill>
                        <a:srgbClr val="C7BAAF"/>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7BAAF"/>
                      </a:solidFill>
                      <a:prstDash val="solid"/>
                      <a:round/>
                      <a:headEnd type="none" w="med" len="med"/>
                      <a:tailEnd type="none" w="med" len="med"/>
                    </a:lnB>
                    <a:solidFill>
                      <a:srgbClr val="F9E9DB"/>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All three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AAF"/>
                      </a:solidFill>
                      <a:prstDash val="solid"/>
                      <a:round/>
                      <a:headEnd type="none" w="med" len="med"/>
                      <a:tailEnd type="none" w="med" len="med"/>
                    </a:lnL>
                    <a:lnR w="12700" cap="flat" cmpd="sng" algn="ctr">
                      <a:solidFill>
                        <a:srgbClr val="C7BAAF"/>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7BAAF"/>
                      </a:solidFill>
                      <a:prstDash val="solid"/>
                      <a:round/>
                      <a:headEnd type="none" w="med" len="med"/>
                      <a:tailEnd type="none" w="med" len="med"/>
                    </a:lnB>
                    <a:solidFill>
                      <a:srgbClr val="F9E9DB"/>
                    </a:solidFill>
                  </a:tcPr>
                </a:tc>
              </a:tr>
              <a:tr h="331546">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22:30-01:30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7BAAF"/>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Polish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7BAAF"/>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20-edge evidence QA, README, empty states, performance, bug fixes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7BAAF"/>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Paul QA, others fix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7BAAF"/>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1546">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01:30-03:30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Ship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1-minute walkthrough, team video, final deploy, submission 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Paul + Vi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1546">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03:30-04:45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Buffer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Fixes only. Submitted and confirmed by 4:45 AM PT; 6:00 AM is the official deadline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All three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7" name="Text 4"/>
          <p:cNvSpPr/>
          <p:nvPr/>
        </p:nvSpPr>
        <p:spPr>
          <a:xfrm>
            <a:off x="812765" y="5414191"/>
            <a:ext cx="108834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51"/>
                </a:solidFill>
                <a:latin typeface="IBM Plex Sans" pitchFamily="34" charset="0"/>
                <a:ea typeface="IBM Plex Sans" pitchFamily="34" charset="-122"/>
                <a:cs typeface="IBM Plex Sans" pitchFamily="34" charset="-120"/>
              </a:rPr>
              <a:t>Working rules: everything goes to main, so pull before every push and commit every 45 minutes. schema.json is the contract; change it only with all three at the table. Nothing shows in the UI without a source. After 22:30 only fixes.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765" y="6095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8520E"/>
                </a:solidFill>
                <a:latin typeface="JetBrains Mono" pitchFamily="49" charset="0"/>
                <a:ea typeface="JetBrains Mono" pitchFamily="49" charset="-122"/>
                <a:cs typeface="JetBrains Mono" pitchFamily="49" charset="-120"/>
              </a:rPr>
              <a:t>JASPAAL · DATA AND AI · PYTHON PIPELINE, OPENAI EXTRACTION, CLUSTERS, EXPLAIN API</a:t>
            </a:r>
            <a:endParaRPr lang="en-US" sz="1200" dirty="0"/>
          </a:p>
        </p:txBody>
      </p:sp>
      <p:sp>
        <p:nvSpPr>
          <p:cNvPr id="3" name="Text 1"/>
          <p:cNvSpPr/>
          <p:nvPr>
            <p:ph type="title"/>
          </p:nvPr>
        </p:nvSpPr>
        <p:spPr>
          <a:xfrm>
            <a:off x="812765" y="949894"/>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2B"/>
                </a:solidFill>
                <a:latin typeface="IBM Plex Sans" pitchFamily="34" charset="0"/>
                <a:ea typeface="IBM Plex Sans" pitchFamily="34" charset="-122"/>
                <a:cs typeface="IBM Plex Sans" pitchFamily="34" charset="-120"/>
              </a:rPr>
              <a:t>Turn 20 CVI-linked diseases into one sourced graph</a:t>
            </a:r>
            <a:endParaRPr lang="en-US" sz="2400" dirty="0"/>
          </a:p>
        </p:txBody>
      </p:sp>
      <p:sp>
        <p:nvSpPr>
          <p:cNvPr id="4" name="Text 2"/>
          <p:cNvSpPr/>
          <p:nvPr/>
        </p:nvSpPr>
        <p:spPr>
          <a:xfrm>
            <a:off x="812765" y="1412139"/>
            <a:ext cx="6241829"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6B7B"/>
                </a:solidFill>
                <a:latin typeface="IBM Plex Sans" pitchFamily="34" charset="0"/>
                <a:ea typeface="IBM Plex Sans" pitchFamily="34" charset="-122"/>
                <a:cs typeface="IBM Plex Sans" pitchFamily="34" charset="-120"/>
              </a:rPr>
              <a:t>Step by step (PT)</a:t>
            </a:r>
            <a:endParaRPr lang="en-US" sz="1300" dirty="0"/>
          </a:p>
        </p:txBody>
      </p:sp>
      <p:sp>
        <p:nvSpPr>
          <p:cNvPr id="5" name="Text 3"/>
          <p:cNvSpPr/>
          <p:nvPr/>
        </p:nvSpPr>
        <p:spPr>
          <a:xfrm>
            <a:off x="834345" y="1673761"/>
            <a:ext cx="6214535" cy="3652296"/>
          </a:xfrm>
          <a:prstGeom prst="rect">
            <a:avLst/>
          </a:prstGeom>
          <a:noFill/>
          <a:ln/>
        </p:spPr>
        <p:txBody>
          <a:bodyPr wrap="square" lIns="0" tIns="0" rIns="0" bIns="0" rtlCol="0" anchor="t">
            <a:normAutofit/>
          </a:bodyPr>
          <a:lstStyle/>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11:30</a:t>
            </a:r>
            <a:r>
              <a:rPr lang="en-US" sz="1200" dirty="0">
                <a:solidFill>
                  <a:srgbClr val="2B3844"/>
                </a:solidFill>
                <a:latin typeface="IBM Plex Sans" pitchFamily="34" charset="0"/>
                <a:ea typeface="IBM Plex Sans" pitchFamily="34" charset="-122"/>
                <a:cs typeface="IBM Plex Sans" pitchFamily="34" charset="-120"/>
              </a:rPr>
              <a:t> Write schema.json with Vi: node types; every edge carries source, url, date, confidence, kind. 30-node mock to Vi by 12:15.</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12:15</a:t>
            </a:r>
            <a:r>
              <a:rPr lang="en-US" sz="1200" dirty="0">
                <a:solidFill>
                  <a:srgbClr val="2B3844"/>
                </a:solidFill>
                <a:latin typeface="IBM Plex Sans" pitchFamily="34" charset="0"/>
                <a:ea typeface="IBM Plex Sans" pitchFamily="34" charset="-122"/>
                <a:cs typeface="IBM Plex Sans" pitchFamily="34" charset="-120"/>
              </a:rPr>
              <a:t> Monarch: pull the 199 diseases with HP:0100704 as a catalog; with Paul keep 15 to 20 (frequent CVI, known gene, patient group) by 13:00.</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13:00</a:t>
            </a:r>
            <a:r>
              <a:rPr lang="en-US" sz="1200" dirty="0">
                <a:solidFill>
                  <a:srgbClr val="2B3844"/>
                </a:solidFill>
                <a:latin typeface="IBM Plex Sans" pitchFamily="34" charset="0"/>
                <a:ea typeface="IBM Plex Sans" pitchFamily="34" charset="-122"/>
                <a:cs typeface="IBM Plex Sans" pitchFamily="34" charset="-120"/>
              </a:rPr>
              <a:t> For the build set: genes, phenotype profiles (Monarch), Reactome pathways, PubMed abstracts (30 per disease), ClinicalTrials.gov, RePORTER; cache raw JSON.</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15:00</a:t>
            </a:r>
            <a:r>
              <a:rPr lang="en-US" sz="1200" dirty="0">
                <a:solidFill>
                  <a:srgbClr val="2B3844"/>
                </a:solidFill>
                <a:latin typeface="IBM Plex Sans" pitchFamily="34" charset="0"/>
                <a:ea typeface="IBM Plex Sans" pitchFamily="34" charset="-122"/>
                <a:cs typeface="IBM Plex Sans" pitchFamily="34" charset="-120"/>
              </a:rPr>
              <a:t> build_graph.py: ids are MONDO, HGNC, HPO, PMID, NCT, never names. graph.json v1 to Vi by 17:30.</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16:00</a:t>
            </a:r>
            <a:r>
              <a:rPr lang="en-US" sz="1200" dirty="0">
                <a:solidFill>
                  <a:srgbClr val="2B3844"/>
                </a:solidFill>
                <a:latin typeface="IBM Plex Sans" pitchFamily="34" charset="0"/>
                <a:ea typeface="IBM Plex Sans" pitchFamily="34" charset="-122"/>
                <a:cs typeface="IBM Plex Sans" pitchFamily="34" charset="-120"/>
              </a:rPr>
              <a:t> OpenAI extraction (gpt-6-luna, Structured Outputs): claims to edges with PMID + span, kind = inferred; names to ids via synonyms, then embeddings.</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18:00</a:t>
            </a:r>
            <a:r>
              <a:rPr lang="en-US" sz="1200" dirty="0">
                <a:solidFill>
                  <a:srgbClr val="2B3844"/>
                </a:solidFill>
                <a:latin typeface="IBM Plex Sans" pitchFamily="34" charset="0"/>
                <a:ea typeface="IBM Plex Sans" pitchFamily="34" charset="-122"/>
                <a:cs typeface="IBM Plex Sans" pitchFamily="34" charset="-120"/>
              </a:rPr>
              <a:t> networkx: Jaccard(HPO) + shared pathway + shared gene; Louvain clusters, each scored (evidence, groups, assets); betweenness bridges; clusters.json. Ingest Paul's CSV.</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20:00</a:t>
            </a:r>
            <a:r>
              <a:rPr lang="en-US" sz="1200" dirty="0">
                <a:solidFill>
                  <a:srgbClr val="2B3844"/>
                </a:solidFill>
                <a:latin typeface="IBM Plex Sans" pitchFamily="34" charset="0"/>
                <a:ea typeface="IBM Plex Sans" pitchFamily="34" charset="-122"/>
                <a:cs typeface="IBM Plex Sans" pitchFamily="34" charset="-120"/>
              </a:rPr>
              <a:t> /api/explain and /api/next-step with Vi: gpt-6.1-sol, audience = family, leader or researcher; every sentence cites an edge id; delete-an-edge test.</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22:30</a:t>
            </a:r>
            <a:r>
              <a:rPr lang="en-US" sz="1200" dirty="0">
                <a:solidFill>
                  <a:srgbClr val="2B3844"/>
                </a:solidFill>
                <a:latin typeface="IBM Plex Sans" pitchFamily="34" charset="0"/>
                <a:ea typeface="IBM Plex Sans" pitchFamily="34" charset="-122"/>
                <a:cs typeface="IBM Plex Sans" pitchFamily="34" charset="-120"/>
              </a:rPr>
              <a:t> Freeze. make graph rebuilds from cache in under 5 minutes; README data section with counts and how it scales to 199.</a:t>
            </a:r>
            <a:endParaRPr lang="en-US" sz="1200" dirty="0"/>
          </a:p>
        </p:txBody>
      </p:sp>
      <p:sp>
        <p:nvSpPr>
          <p:cNvPr id="6" name="Shape 4"/>
          <p:cNvSpPr/>
          <p:nvPr/>
        </p:nvSpPr>
        <p:spPr>
          <a:xfrm>
            <a:off x="7053765" y="1415314"/>
            <a:ext cx="4322268" cy="2428231"/>
          </a:xfrm>
          <a:prstGeom prst="roundRect">
            <a:avLst>
              <a:gd name="adj" fmla="val 3007"/>
            </a:avLst>
          </a:prstGeom>
          <a:solidFill>
            <a:srgbClr val="FDFDFB"/>
          </a:solidFill>
          <a:ln w="6350">
            <a:solidFill>
              <a:srgbClr val="DDE3DE"/>
            </a:solidFill>
            <a:prstDash val="solid"/>
          </a:ln>
        </p:spPr>
      </p:sp>
      <p:sp>
        <p:nvSpPr>
          <p:cNvPr id="7" name="Text 5"/>
          <p:cNvSpPr/>
          <p:nvPr/>
        </p:nvSpPr>
        <p:spPr>
          <a:xfrm>
            <a:off x="7208777" y="1544920"/>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Tools and APIs</a:t>
            </a:r>
            <a:endParaRPr lang="en-US" sz="1300" dirty="0"/>
          </a:p>
        </p:txBody>
      </p:sp>
      <p:sp>
        <p:nvSpPr>
          <p:cNvPr id="8" name="Text 6"/>
          <p:cNvSpPr/>
          <p:nvPr/>
        </p:nvSpPr>
        <p:spPr>
          <a:xfrm>
            <a:off x="7218683" y="1793816"/>
            <a:ext cx="4117751" cy="194552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Monarch API v3: association?object=HP:0100704, then entity and association per disease</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Reactome ContentService: gene to pathway</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NCBI E-utilities: PubMed abstracts (free api_key = 10 req/s)</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ClinicalTrials.gov API v2 + NIH RePORTER API v2</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OpenAI: gpt-6-luna + Structured Outputs, text-embedding-3-small, gpt-6.1-sol</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Python: httpx, pandas, networkx, pydantic, openai</a:t>
            </a:r>
            <a:endParaRPr lang="en-US" sz="1200" dirty="0"/>
          </a:p>
        </p:txBody>
      </p:sp>
      <p:sp>
        <p:nvSpPr>
          <p:cNvPr id="9" name="Shape 7"/>
          <p:cNvSpPr/>
          <p:nvPr/>
        </p:nvSpPr>
        <p:spPr>
          <a:xfrm>
            <a:off x="7053765" y="3951474"/>
            <a:ext cx="4322268" cy="1788191"/>
          </a:xfrm>
          <a:prstGeom prst="roundRect">
            <a:avLst>
              <a:gd name="adj" fmla="val 4084"/>
            </a:avLst>
          </a:prstGeom>
          <a:solidFill>
            <a:srgbClr val="FDFDFB"/>
          </a:solidFill>
          <a:ln w="6350">
            <a:solidFill>
              <a:srgbClr val="DDE3DE"/>
            </a:solidFill>
            <a:prstDash val="solid"/>
          </a:ln>
        </p:spPr>
      </p:sp>
      <p:sp>
        <p:nvSpPr>
          <p:cNvPr id="10" name="Text 8"/>
          <p:cNvSpPr/>
          <p:nvPr/>
        </p:nvSpPr>
        <p:spPr>
          <a:xfrm>
            <a:off x="7208777" y="4081080"/>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Hints</a:t>
            </a:r>
            <a:endParaRPr lang="en-US" sz="1300" dirty="0"/>
          </a:p>
        </p:txBody>
      </p:sp>
      <p:sp>
        <p:nvSpPr>
          <p:cNvPr id="11" name="Text 9"/>
          <p:cNvSpPr/>
          <p:nvPr/>
        </p:nvSpPr>
        <p:spPr>
          <a:xfrm>
            <a:off x="7218683" y="4329976"/>
            <a:ext cx="4117751" cy="13054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5 diseases end to end first, then the rest of the set.</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Ids, never names: MONDO, HGNC, HPO, PMID, NCT.</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Skip OMIM API (key approval takes days) and GPT-Rosalind (trusted access only).</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Precompute everything; live calls only for resolve, explain, next step.</a:t>
            </a:r>
            <a:endParaRPr lang="en-US" sz="1200" dirty="0"/>
          </a:p>
        </p:txBody>
      </p:sp>
      <p:sp>
        <p:nvSpPr>
          <p:cNvPr id="12" name="Text 10"/>
          <p:cNvSpPr/>
          <p:nvPr/>
        </p:nvSpPr>
        <p:spPr>
          <a:xfrm>
            <a:off x="812765" y="6024931"/>
            <a:ext cx="10883390"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6B7B"/>
                </a:solidFill>
                <a:latin typeface="IBM Plex Sans" pitchFamily="34" charset="0"/>
                <a:ea typeface="IBM Plex Sans" pitchFamily="34" charset="-122"/>
                <a:cs typeface="IBM Plex Sans" pitchFamily="34" charset="-120"/>
              </a:rPr>
              <a:t>Done when: make graph yields graph.json + clusters.json for 15 to 20 diseases with genes and pathways, 3+ clusters, every edge sourced; explain cites only real edge ids.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765" y="6095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8520E"/>
                </a:solidFill>
                <a:latin typeface="JetBrains Mono" pitchFamily="49" charset="0"/>
                <a:ea typeface="JetBrains Mono" pitchFamily="49" charset="-122"/>
                <a:cs typeface="JetBrains Mono" pitchFamily="49" charset="-120"/>
              </a:rPr>
              <a:t>VI · PRODUCT AND INFRA · NEXT.JS ON REPLIT, SEARCH, GRAPH CANVAS, THREE VIEWS, DEPLOY</a:t>
            </a:r>
            <a:endParaRPr lang="en-US" sz="1200" dirty="0"/>
          </a:p>
        </p:txBody>
      </p:sp>
      <p:sp>
        <p:nvSpPr>
          <p:cNvPr id="3" name="Text 1"/>
          <p:cNvSpPr/>
          <p:nvPr>
            <p:ph type="title"/>
          </p:nvPr>
        </p:nvSpPr>
        <p:spPr>
          <a:xfrm>
            <a:off x="812765" y="949894"/>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2B"/>
                </a:solidFill>
                <a:latin typeface="IBM Plex Sans" pitchFamily="34" charset="0"/>
                <a:ea typeface="IBM Plex Sans" pitchFamily="34" charset="-122"/>
                <a:cs typeface="IBM Plex Sans" pitchFamily="34" charset="-120"/>
              </a:rPr>
              <a:t>One graph, readable by Maria, a family, a researcher</a:t>
            </a:r>
            <a:endParaRPr lang="en-US" sz="2400" dirty="0"/>
          </a:p>
        </p:txBody>
      </p:sp>
      <p:sp>
        <p:nvSpPr>
          <p:cNvPr id="4" name="Text 2"/>
          <p:cNvSpPr/>
          <p:nvPr/>
        </p:nvSpPr>
        <p:spPr>
          <a:xfrm>
            <a:off x="812765" y="1412139"/>
            <a:ext cx="6241829"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6B7B"/>
                </a:solidFill>
                <a:latin typeface="IBM Plex Sans" pitchFamily="34" charset="0"/>
                <a:ea typeface="IBM Plex Sans" pitchFamily="34" charset="-122"/>
                <a:cs typeface="IBM Plex Sans" pitchFamily="34" charset="-120"/>
              </a:rPr>
              <a:t>Step by step (PT)</a:t>
            </a:r>
            <a:endParaRPr lang="en-US" sz="1300" dirty="0"/>
          </a:p>
        </p:txBody>
      </p:sp>
      <p:sp>
        <p:nvSpPr>
          <p:cNvPr id="5" name="Text 3"/>
          <p:cNvSpPr/>
          <p:nvPr/>
        </p:nvSpPr>
        <p:spPr>
          <a:xfrm>
            <a:off x="834345" y="1673761"/>
            <a:ext cx="6214535" cy="3438949"/>
          </a:xfrm>
          <a:prstGeom prst="rect">
            <a:avLst/>
          </a:prstGeom>
          <a:noFill/>
          <a:ln/>
        </p:spPr>
        <p:txBody>
          <a:bodyPr wrap="square" lIns="0" tIns="0" rIns="0" bIns="0" rtlCol="0" anchor="t">
            <a:normAutofit/>
          </a:bodyPr>
          <a:lstStyle/>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11:30</a:t>
            </a:r>
            <a:r>
              <a:rPr lang="en-US" sz="1200" dirty="0">
                <a:solidFill>
                  <a:srgbClr val="2B3844"/>
                </a:solidFill>
                <a:latin typeface="IBM Plex Sans" pitchFamily="34" charset="0"/>
                <a:ea typeface="IBM Plex Sans" pitchFamily="34" charset="-122"/>
                <a:cs typeface="IBM Plex Sans" pitchFamily="34" charset="-120"/>
              </a:rPr>
              <a:t> Replit: Next.js + TypeScript + Tailwind, GitHub main, deployment live by 12:00. Agree schema.json with Jaspaal.</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12:15</a:t>
            </a:r>
            <a:r>
              <a:rPr lang="en-US" sz="1200" dirty="0">
                <a:solidFill>
                  <a:srgbClr val="2B3844"/>
                </a:solidFill>
                <a:latin typeface="IBM Plex Sans" pitchFamily="34" charset="0"/>
                <a:ea typeface="IBM Plex Sans" pitchFamily="34" charset="-122"/>
                <a:cs typeface="IBM Plex Sans" pitchFamily="34" charset="-120"/>
              </a:rPr>
              <a:t> Mock loader (Zod types from schema.json) + index by id, name, synonym. Tokens: white, system font, one blue, 12px radius.</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13:00</a:t>
            </a:r>
            <a:r>
              <a:rPr lang="en-US" sz="1200" dirty="0">
                <a:solidFill>
                  <a:srgbClr val="2B3844"/>
                </a:solidFill>
                <a:latin typeface="IBM Plex Sans" pitchFamily="34" charset="0"/>
                <a:ea typeface="IBM Plex Sans" pitchFamily="34" charset="-122"/>
                <a:cs typeface="IBM Plex Sans" pitchFamily="34" charset="-120"/>
              </a:rPr>
              <a:t> One global search (disease, gene, symptom, org, mechanism) + Viewing-as switch: Leader (default), Family, Researcher.</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14:30</a:t>
            </a:r>
            <a:r>
              <a:rPr lang="en-US" sz="1200" dirty="0">
                <a:solidFill>
                  <a:srgbClr val="2B3844"/>
                </a:solidFill>
                <a:latin typeface="IBM Plex Sans" pitchFamily="34" charset="0"/>
                <a:ea typeface="IBM Plex Sans" pitchFamily="34" charset="-122"/>
                <a:cs typeface="IBM Plex Sans" pitchFamily="34" charset="-120"/>
              </a:rPr>
              <a:t> Graph canvas (Cytoscape.js): color = cluster, size = centrality, dashed = inferred or bridge; split view on desktop, sheet on mobile.</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17:30</a:t>
            </a:r>
            <a:r>
              <a:rPr lang="en-US" sz="1200" dirty="0">
                <a:solidFill>
                  <a:srgbClr val="2B3844"/>
                </a:solidFill>
                <a:latin typeface="IBM Plex Sans" pitchFamily="34" charset="0"/>
                <a:ea typeface="IBM Plex Sans" pitchFamily="34" charset="-122"/>
                <a:cs typeface="IBM Plex Sans" pitchFamily="34" charset="-120"/>
              </a:rPr>
              <a:t> Merge 1: swap in graph.json; Maria's path clicks end to end.</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18:30</a:t>
            </a:r>
            <a:r>
              <a:rPr lang="en-US" sz="1200" dirty="0">
                <a:solidFill>
                  <a:srgbClr val="2B3844"/>
                </a:solidFill>
                <a:latin typeface="IBM Plex Sans" pitchFamily="34" charset="0"/>
                <a:ea typeface="IBM Plex Sans" pitchFamily="34" charset="-122"/>
                <a:cs typeface="IBM Plex Sans" pitchFamily="34" charset="-120"/>
              </a:rPr>
              <a:t> Leader view: three cards (who shares our biology, what exists, what next) + evidence panel per edge: source, date, confidence, observed vs inferred, contradictions.</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20:30</a:t>
            </a:r>
            <a:r>
              <a:rPr lang="en-US" sz="1200" dirty="0">
                <a:solidFill>
                  <a:srgbClr val="2B3844"/>
                </a:solidFill>
                <a:latin typeface="IBM Plex Sans" pitchFamily="34" charset="0"/>
                <a:ea typeface="IBM Plex Sans" pitchFamily="34" charset="-122"/>
                <a:cs typeface="IBM Plex Sans" pitchFamily="34" charset="-120"/>
              </a:rPr>
              <a:t> Action view + No supported route state; /api/explain with audience = view; Researcher view: evidence table, investigators, grants, export JSON.</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22:30</a:t>
            </a:r>
            <a:r>
              <a:rPr lang="en-US" sz="1200" dirty="0">
                <a:solidFill>
                  <a:srgbClr val="2B3844"/>
                </a:solidFill>
                <a:latin typeface="IBM Plex Sans" pitchFamily="34" charset="0"/>
                <a:ea typeface="IBM Plex Sans" pitchFamily="34" charset="-122"/>
                <a:cs typeface="IBM Plex Sans" pitchFamily="34" charset="-120"/>
              </a:rPr>
              <a:t> Freeze. Family view = Leader view in plainest words, community card first; empty, loading, error states; rehearse with Paul at 23:00.</a:t>
            </a:r>
            <a:endParaRPr lang="en-US" sz="1200" dirty="0"/>
          </a:p>
        </p:txBody>
      </p:sp>
      <p:sp>
        <p:nvSpPr>
          <p:cNvPr id="6" name="Shape 4"/>
          <p:cNvSpPr/>
          <p:nvPr/>
        </p:nvSpPr>
        <p:spPr>
          <a:xfrm>
            <a:off x="7053765" y="1415314"/>
            <a:ext cx="4322268" cy="2001538"/>
          </a:xfrm>
          <a:prstGeom prst="roundRect">
            <a:avLst>
              <a:gd name="adj" fmla="val 3648"/>
            </a:avLst>
          </a:prstGeom>
          <a:solidFill>
            <a:srgbClr val="FDFDFB"/>
          </a:solidFill>
          <a:ln w="6350">
            <a:solidFill>
              <a:srgbClr val="DDE3DE"/>
            </a:solidFill>
            <a:prstDash val="solid"/>
          </a:ln>
        </p:spPr>
      </p:sp>
      <p:sp>
        <p:nvSpPr>
          <p:cNvPr id="7" name="Text 5"/>
          <p:cNvSpPr/>
          <p:nvPr/>
        </p:nvSpPr>
        <p:spPr>
          <a:xfrm>
            <a:off x="7208777" y="1544920"/>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Tools</a:t>
            </a:r>
            <a:endParaRPr lang="en-US" sz="1300" dirty="0"/>
          </a:p>
        </p:txBody>
      </p:sp>
      <p:sp>
        <p:nvSpPr>
          <p:cNvPr id="8" name="Text 6"/>
          <p:cNvSpPr/>
          <p:nvPr/>
        </p:nvSpPr>
        <p:spPr>
          <a:xfrm>
            <a:off x="7218683" y="1793816"/>
            <a:ext cx="4117751" cy="1518828"/>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Replit: Next.js 15 + TypeScript, Tailwind, Zod; Autoscale deployment; OPENAI_API_KEY in Secrets</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Cytoscape.js (fallback react-force-graph-2d)</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graph.json static in /public, loaded once; Replit Postgres only if needed</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GitHub main: pull before push, commit every 45 minutes</a:t>
            </a:r>
            <a:endParaRPr lang="en-US" sz="1200" dirty="0"/>
          </a:p>
        </p:txBody>
      </p:sp>
      <p:sp>
        <p:nvSpPr>
          <p:cNvPr id="9" name="Shape 7"/>
          <p:cNvSpPr/>
          <p:nvPr/>
        </p:nvSpPr>
        <p:spPr>
          <a:xfrm>
            <a:off x="7053765" y="3524779"/>
            <a:ext cx="4322268" cy="1788191"/>
          </a:xfrm>
          <a:prstGeom prst="roundRect">
            <a:avLst>
              <a:gd name="adj" fmla="val 4084"/>
            </a:avLst>
          </a:prstGeom>
          <a:solidFill>
            <a:srgbClr val="FDFDFB"/>
          </a:solidFill>
          <a:ln w="6350">
            <a:solidFill>
              <a:srgbClr val="DDE3DE"/>
            </a:solidFill>
            <a:prstDash val="solid"/>
          </a:ln>
        </p:spPr>
      </p:sp>
      <p:sp>
        <p:nvSpPr>
          <p:cNvPr id="10" name="Text 8"/>
          <p:cNvSpPr/>
          <p:nvPr/>
        </p:nvSpPr>
        <p:spPr>
          <a:xfrm>
            <a:off x="7208777" y="3654386"/>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Hints</a:t>
            </a:r>
            <a:endParaRPr lang="en-US" sz="1300" dirty="0"/>
          </a:p>
        </p:txBody>
      </p:sp>
      <p:sp>
        <p:nvSpPr>
          <p:cNvPr id="11" name="Text 9"/>
          <p:cNvSpPr/>
          <p:nvPr/>
        </p:nvSpPr>
        <p:spPr>
          <a:xfrm>
            <a:off x="7218683" y="3903283"/>
            <a:ext cx="4117751" cy="13054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Apple vibe: white, space, one accent, text labels, no chart junk.</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Viewing as changes depth and words, never the data.</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Build on the mock; never wait for real data.</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Routes: /search, /disease/[id], /cluster/[id], /path/[a]/[b].</a:t>
            </a:r>
            <a:endParaRPr lang="en-US" sz="1200" dirty="0"/>
          </a:p>
        </p:txBody>
      </p:sp>
      <p:sp>
        <p:nvSpPr>
          <p:cNvPr id="12" name="Text 10"/>
          <p:cNvSpPr/>
          <p:nvPr/>
        </p:nvSpPr>
        <p:spPr>
          <a:xfrm>
            <a:off x="812765" y="6024931"/>
            <a:ext cx="10883390"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6B7B"/>
                </a:solidFill>
                <a:latin typeface="IBM Plex Sans" pitchFamily="34" charset="0"/>
                <a:ea typeface="IBM Plex Sans" pitchFamily="34" charset="-122"/>
                <a:cs typeface="IBM Plex Sans" pitchFamily="34" charset="-120"/>
              </a:rPr>
              <a:t>Done when: live Replit URL; Maria's search to cluster to evidence to action view works on real data; Family and Researcher views switch; no-route state exists.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765" y="6095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8520E"/>
                </a:solidFill>
                <a:latin typeface="JetBrains Mono" pitchFamily="49" charset="0"/>
                <a:ea typeface="JetBrains Mono" pitchFamily="49" charset="-122"/>
                <a:cs typeface="JetBrains Mono" pitchFamily="49" charset="-120"/>
              </a:rPr>
              <a:t>PAUL · DOMAIN, EVIDENCE AND STORY · BUILD SET, COMMUNITY DATA, QA, 10X CASE, VIDEO, SUBMISSION</a:t>
            </a:r>
            <a:endParaRPr lang="en-US" sz="1200" dirty="0"/>
          </a:p>
        </p:txBody>
      </p:sp>
      <p:sp>
        <p:nvSpPr>
          <p:cNvPr id="3" name="Text 1"/>
          <p:cNvSpPr/>
          <p:nvPr>
            <p:ph type="title"/>
          </p:nvPr>
        </p:nvSpPr>
        <p:spPr>
          <a:xfrm>
            <a:off x="812765" y="949896"/>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2B"/>
                </a:solidFill>
                <a:latin typeface="IBM Plex Sans" pitchFamily="34" charset="0"/>
                <a:ea typeface="IBM Plex Sans" pitchFamily="34" charset="-122"/>
                <a:cs typeface="IBM Plex Sans" pitchFamily="34" charset="-120"/>
              </a:rPr>
              <a:t>Keep it true, keep it human, get it submitted</a:t>
            </a:r>
            <a:endParaRPr lang="en-US" sz="2400" dirty="0"/>
          </a:p>
        </p:txBody>
      </p:sp>
      <p:sp>
        <p:nvSpPr>
          <p:cNvPr id="4" name="Text 2"/>
          <p:cNvSpPr/>
          <p:nvPr/>
        </p:nvSpPr>
        <p:spPr>
          <a:xfrm>
            <a:off x="812765" y="1412137"/>
            <a:ext cx="6241829"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6B7B"/>
                </a:solidFill>
                <a:latin typeface="IBM Plex Sans" pitchFamily="34" charset="0"/>
                <a:ea typeface="IBM Plex Sans" pitchFamily="34" charset="-122"/>
                <a:cs typeface="IBM Plex Sans" pitchFamily="34" charset="-120"/>
              </a:rPr>
              <a:t>Step by step (PT)</a:t>
            </a:r>
            <a:endParaRPr lang="en-US" sz="1300" dirty="0"/>
          </a:p>
        </p:txBody>
      </p:sp>
      <p:sp>
        <p:nvSpPr>
          <p:cNvPr id="5" name="Text 3"/>
          <p:cNvSpPr/>
          <p:nvPr/>
        </p:nvSpPr>
        <p:spPr>
          <a:xfrm>
            <a:off x="834345" y="1673761"/>
            <a:ext cx="6214535" cy="3012256"/>
          </a:xfrm>
          <a:prstGeom prst="rect">
            <a:avLst/>
          </a:prstGeom>
          <a:noFill/>
          <a:ln/>
        </p:spPr>
        <p:txBody>
          <a:bodyPr wrap="square" lIns="0" tIns="0" rIns="0" bIns="0" rtlCol="0" anchor="t">
            <a:normAutofit/>
          </a:bodyPr>
          <a:lstStyle/>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11:30</a:t>
            </a:r>
            <a:r>
              <a:rPr lang="en-US" sz="1200" dirty="0">
                <a:solidFill>
                  <a:srgbClr val="2B3844"/>
                </a:solidFill>
                <a:latin typeface="IBM Plex Sans" pitchFamily="34" charset="0"/>
                <a:ea typeface="IBM Plex Sans" pitchFamily="34" charset="-122"/>
                <a:cs typeface="IBM Plex Sans" pitchFamily="34" charset="-120"/>
              </a:rPr>
              <a:t> Write each persona's questions in plain words (Maria, Devon, Dr. Osei, Priya) and Maria's exact demo path: what she types, what she must see.</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12:15</a:t>
            </a:r>
            <a:r>
              <a:rPr lang="en-US" sz="1200" dirty="0">
                <a:solidFill>
                  <a:srgbClr val="2B3844"/>
                </a:solidFill>
                <a:latin typeface="IBM Plex Sans" pitchFamily="34" charset="0"/>
                <a:ea typeface="IBM Plex Sans" pitchFamily="34" charset="-122"/>
                <a:cs typeface="IBM Plex Sans" pitchFamily="34" charset="-120"/>
              </a:rPr>
              <a:t> With Jaspaal, pick the build set from the 199 catalog: 15 to 20 diseases with frequent CVI, a known gene and a patient group. Done by 13:00.</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13:00</a:t>
            </a:r>
            <a:r>
              <a:rPr lang="en-US" sz="1200" dirty="0">
                <a:solidFill>
                  <a:srgbClr val="2B3844"/>
                </a:solidFill>
                <a:latin typeface="IBM Plex Sans" pitchFamily="34" charset="0"/>
                <a:ea typeface="IBM Plex Sans" pitchFamily="34" charset="-122"/>
                <a:cs typeface="IBM Plex Sans" pitchFamily="34" charset="-120"/>
              </a:rPr>
              <a:t> Community CSV for the build set: patient groups (PCVIS, Perkins CVI Now, CVI Scotland), gene foundations, registries, assessments, investigators; one URL per row.</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16:00</a:t>
            </a:r>
            <a:r>
              <a:rPr lang="en-US" sz="1200" dirty="0">
                <a:solidFill>
                  <a:srgbClr val="2B3844"/>
                </a:solidFill>
                <a:latin typeface="IBM Plex Sans" pitchFamily="34" charset="0"/>
                <a:ea typeface="IBM Plex Sans" pitchFamily="34" charset="-122"/>
                <a:cs typeface="IBM Plex Sans" pitchFamily="34" charset="-120"/>
              </a:rPr>
              <a:t> 10x case: today's route for a patient group vs the atlas route to a shared study; cite one real timeline; 3 assumptions max.</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18:00</a:t>
            </a:r>
            <a:r>
              <a:rPr lang="en-US" sz="1200" dirty="0">
                <a:solidFill>
                  <a:srgbClr val="2B3844"/>
                </a:solidFill>
                <a:latin typeface="IBM Plex Sans" pitchFamily="34" charset="0"/>
                <a:ea typeface="IBM Plex Sans" pitchFamily="34" charset="-122"/>
                <a:cs typeface="IBM Plex Sans" pitchFamily="34" charset="-120"/>
              </a:rPr>
              <a:t> QA round 1: 10 edges, open the source, true or false, report misses to Jaspaal. Pick the 3 demo conditions.</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20:00</a:t>
            </a:r>
            <a:r>
              <a:rPr lang="en-US" sz="1200" dirty="0">
                <a:solidFill>
                  <a:srgbClr val="2B3844"/>
                </a:solidFill>
                <a:latin typeface="IBM Plex Sans" pitchFamily="34" charset="0"/>
                <a:ea typeface="IBM Plex Sans" pitchFamily="34" charset="-122"/>
                <a:cs typeface="IBM Plex Sans" pitchFamily="34" charset="-120"/>
              </a:rPr>
              <a:t> Demo script (60 s) + README narrative: problem, who it is for, observed vs inferred, limits. QA round 2: 20 edges, numbers into README.</a:t>
            </a:r>
            <a:endParaRPr lang="en-US" sz="1200" dirty="0"/>
          </a:p>
          <a:p>
            <a:pPr algn="l" marL="168920" indent="-168920">
              <a:lnSpc>
                <a:spcPts val="1680"/>
              </a:lnSpc>
              <a:buSzPct val="100000"/>
              <a:buFontTx/>
              <a:buAutoNum type="arabicPeriod" startAt="1"/>
            </a:pPr>
            <a:r>
              <a:rPr lang="en-US" sz="1200" b="1" dirty="0">
                <a:solidFill>
                  <a:srgbClr val="2B3844"/>
                </a:solidFill>
                <a:latin typeface="IBM Plex Sans" pitchFamily="34" charset="0"/>
                <a:ea typeface="IBM Plex Sans" pitchFamily="34" charset="-122"/>
                <a:cs typeface="IBM Plex Sans" pitchFamily="34" charset="-120"/>
              </a:rPr>
              <a:t>23:00</a:t>
            </a:r>
            <a:r>
              <a:rPr lang="en-US" sz="1200" dirty="0">
                <a:solidFill>
                  <a:srgbClr val="2B3844"/>
                </a:solidFill>
                <a:latin typeface="IBM Plex Sans" pitchFamily="34" charset="0"/>
                <a:ea typeface="IBM Plex Sans" pitchFamily="34" charset="-122"/>
                <a:cs typeface="IBM Plex Sans" pitchFamily="34" charset="-120"/>
              </a:rPr>
              <a:t> Rehearse with Vi as Maria, then as a family at 2 a.m.; record at 01:30; submit by 03:30; final check 04:30.</a:t>
            </a:r>
            <a:endParaRPr lang="en-US" sz="1200" dirty="0"/>
          </a:p>
        </p:txBody>
      </p:sp>
      <p:sp>
        <p:nvSpPr>
          <p:cNvPr id="6" name="Shape 4"/>
          <p:cNvSpPr/>
          <p:nvPr/>
        </p:nvSpPr>
        <p:spPr>
          <a:xfrm>
            <a:off x="7053765" y="1415312"/>
            <a:ext cx="4322268" cy="1788191"/>
          </a:xfrm>
          <a:prstGeom prst="roundRect">
            <a:avLst>
              <a:gd name="adj" fmla="val 4084"/>
            </a:avLst>
          </a:prstGeom>
          <a:solidFill>
            <a:srgbClr val="FDFDFB"/>
          </a:solidFill>
          <a:ln w="6350">
            <a:solidFill>
              <a:srgbClr val="DDE3DE"/>
            </a:solidFill>
            <a:prstDash val="solid"/>
          </a:ln>
        </p:spPr>
      </p:sp>
      <p:sp>
        <p:nvSpPr>
          <p:cNvPr id="7" name="Text 5"/>
          <p:cNvSpPr/>
          <p:nvPr/>
        </p:nvSpPr>
        <p:spPr>
          <a:xfrm>
            <a:off x="7208777" y="1544920"/>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Tools</a:t>
            </a:r>
            <a:endParaRPr lang="en-US" sz="1300" dirty="0"/>
          </a:p>
        </p:txBody>
      </p:sp>
      <p:sp>
        <p:nvSpPr>
          <p:cNvPr id="8" name="Text 6"/>
          <p:cNvSpPr/>
          <p:nvPr/>
        </p:nvSpPr>
        <p:spPr>
          <a:xfrm>
            <a:off x="7218683" y="1793816"/>
            <a:ext cx="4117751" cy="13054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ChatGPT with web search + Google for the CSV; Google Sheets exported to /data/community.csv</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NIH RePORTER and ClinicalTrials.gov sites: search "cerebral visual impairment"</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Loom or QuickTime; the Hack-Nation submission form</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The brief's judging table as your checklist</a:t>
            </a:r>
            <a:endParaRPr lang="en-US" sz="1200" dirty="0"/>
          </a:p>
        </p:txBody>
      </p:sp>
      <p:sp>
        <p:nvSpPr>
          <p:cNvPr id="9" name="Shape 7"/>
          <p:cNvSpPr/>
          <p:nvPr/>
        </p:nvSpPr>
        <p:spPr>
          <a:xfrm>
            <a:off x="7053765" y="3311432"/>
            <a:ext cx="4322268" cy="1788191"/>
          </a:xfrm>
          <a:prstGeom prst="roundRect">
            <a:avLst>
              <a:gd name="adj" fmla="val 4084"/>
            </a:avLst>
          </a:prstGeom>
          <a:solidFill>
            <a:srgbClr val="FDFDFB"/>
          </a:solidFill>
          <a:ln w="6350">
            <a:solidFill>
              <a:srgbClr val="DDE3DE"/>
            </a:solidFill>
            <a:prstDash val="solid"/>
          </a:ln>
        </p:spPr>
      </p:sp>
      <p:sp>
        <p:nvSpPr>
          <p:cNvPr id="10" name="Text 8"/>
          <p:cNvSpPr/>
          <p:nvPr/>
        </p:nvSpPr>
        <p:spPr>
          <a:xfrm>
            <a:off x="7208777" y="3441040"/>
            <a:ext cx="4132610"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B"/>
                </a:solidFill>
                <a:latin typeface="IBM Plex Sans" pitchFamily="34" charset="0"/>
                <a:ea typeface="IBM Plex Sans" pitchFamily="34" charset="-122"/>
                <a:cs typeface="IBM Plex Sans" pitchFamily="34" charset="-120"/>
              </a:rPr>
              <a:t>Hints</a:t>
            </a:r>
            <a:endParaRPr lang="en-US" sz="1300" dirty="0"/>
          </a:p>
        </p:txBody>
      </p:sp>
      <p:sp>
        <p:nvSpPr>
          <p:cNvPr id="11" name="Text 9"/>
          <p:cNvSpPr/>
          <p:nvPr/>
        </p:nvSpPr>
        <p:spPr>
          <a:xfrm>
            <a:off x="7218683" y="3689936"/>
            <a:ext cx="4117751" cy="13054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No URL, no row.</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Maria is the demo; your family story is the Family view's voice.</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The honest-gap screen is a feature; show it in the video.</a:t>
            </a:r>
            <a:endParaRPr lang="en-US" sz="1200" dirty="0"/>
          </a:p>
          <a:p>
            <a:pPr algn="l" marL="155194" indent="-155194">
              <a:lnSpc>
                <a:spcPts val="1680"/>
              </a:lnSpc>
              <a:buSzPct val="100000"/>
              <a:buChar char="•"/>
            </a:pPr>
            <a:r>
              <a:rPr lang="en-US" sz="1200" dirty="0">
                <a:solidFill>
                  <a:srgbClr val="2B3844"/>
                </a:solidFill>
                <a:latin typeface="IBM Plex Sans" pitchFamily="34" charset="0"/>
                <a:ea typeface="IBM Plex Sans" pitchFamily="34" charset="-122"/>
                <a:cs typeface="IBM Plex Sans" pitchFamily="34" charset="-120"/>
              </a:rPr>
              <a:t>10 seconds of family, 40 of Maria's path, 10 of Researcher view.</a:t>
            </a:r>
            <a:endParaRPr lang="en-US" sz="1200" dirty="0"/>
          </a:p>
        </p:txBody>
      </p:sp>
      <p:sp>
        <p:nvSpPr>
          <p:cNvPr id="12" name="Text 10"/>
          <p:cNvSpPr/>
          <p:nvPr/>
        </p:nvSpPr>
        <p:spPr>
          <a:xfrm>
            <a:off x="812765" y="6024931"/>
            <a:ext cx="10883390"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6B7B"/>
                </a:solidFill>
                <a:latin typeface="IBM Plex Sans" pitchFamily="34" charset="0"/>
                <a:ea typeface="IBM Plex Sans" pitchFamily="34" charset="-122"/>
                <a:cs typeface="IBM Plex Sans" pitchFamily="34" charset="-120"/>
              </a:rPr>
              <a:t>Done when: build set chosen by 13:00; CSV ingested; 20-edge QA numbers in README; 10x case written; both videos uploaded; submission confirmed before 4:45 AM PT.</a:t>
            </a:r>
            <a:endParaRPr lang="en-US" sz="1200" dirty="0"/>
          </a:p>
        </p:txBody>
      </p:sp>
    </p:spTree>
  </p:cSld>
  <p:clrMapOvr>
    <a:masterClrMapping/>
  </p:clrMapOvr>
</p:sld>
</file>

<file path=ppt/theme/theme1.xml><?xml version="1.0" encoding="utf-8"?>
<a:theme xmlns:a="http://schemas.openxmlformats.org/drawingml/2006/main" name="Rare Disease Atlas 16-Hour Plan">
  <a:themeElements>
    <a:clrScheme name="Rare Disease Atlas 16-Hour Plan">
      <a:dk1>
        <a:srgbClr val="2B3844"/>
      </a:dk1>
      <a:lt1>
        <a:srgbClr val="F6F7F4"/>
      </a:lt1>
      <a:dk2>
        <a:srgbClr val="5E6870"/>
      </a:dk2>
      <a:lt2>
        <a:srgbClr val="E2E4E2"/>
      </a:lt2>
      <a:accent1>
        <a:srgbClr val="F0A868"/>
      </a:accent1>
      <a:accent2>
        <a:srgbClr val="176B7B"/>
      </a:accent2>
      <a:accent3>
        <a:srgbClr val="A8520E"/>
      </a:accent3>
      <a:accent4>
        <a:srgbClr val="7FC4D0"/>
      </a:accent4>
      <a:accent5>
        <a:srgbClr val="14202B"/>
      </a:accent5>
      <a:accent6>
        <a:srgbClr val="BFD0DA"/>
      </a:accent6>
      <a:hlink>
        <a:srgbClr val="0563C1"/>
      </a:hlink>
      <a:folHlink>
        <a:srgbClr val="954F72"/>
      </a:folHlink>
    </a:clrScheme>
    <a:fontScheme name="Rare Disease Atlas 16-Hour Pla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Rare Disease Atlas 16-Hour Plan</dc:title>
  <dc:subject/>
  <dc:creator/>
  <cp:lastModifiedBy/>
  <cp:revision>1</cp:revision>
  <dcterms:created xsi:type="dcterms:W3CDTF">2026-10-03T19:01:50Z</dcterms:created>
  <dcterms:modified xsi:type="dcterms:W3CDTF">2026-10-03T19:01:50Z</dcterms:modified>
</cp:coreProperties>
</file>